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Chào AE và sếp. Hôm nay tôi xin giới thiệu công cụ mới — QC Component Manager phiên bản web v2.0.
Đây là bản nâng cấp từ app Tkinter desktop chúng tôi đã xài lâu nay. Lần này chuyển sang web để cả phòng QC có thể dùng chung qua trình duyệt, không cần cài đặt gì cả.
Tôi sẽ trình bày trong 30 phút, gồm: bối cảnh, giải pháp, các tính năng chính, demo workflow, và cách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tiên là bối cảnh. Hiện tại phòng QC chúng ta đang dùng Excel chia sẻ qua mạng. Cách này có 4 vấn đề lớn:
1. Xung đột file — nhiều người mở cùng lúc, lưu đè nhau, mất dữ liệu.
2. Không biết ai sửa gì — sai sót khó truy ngược.
3. Tổng hợp báo cáo thủ công — mỗi tuần tôi mất 2-3 giờ copy-paste từ file của AE QC.
4. Không có cảnh báo khi Rev đổi — rủi ro nhất, dễ dẫn đến rework.
AE QC ở đây chắc nhiều người đã gặp 1 trong 4 cái này rồi.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của chúng ta là một WEB APP dùng chung. Khác Excel ở 4 điểm:
1. Dữ liệu tập trung — chỉ 1 database. Không còn cảnh 'file của ai mới nhất'.
2. Real-time — sửa là thấy ngay. Không cần gửi qua Zalo nữa.
3. Audit log — biết ai làm gì lúc nào.
4. Cảnh báo tự động — Rev đổi, Final mà chưa Fit-up đều được app báo ngay.
Quan trọng: KHÔNG CẦN CÀI ĐẶT gì cả. AE QC chỉ cần mở Chrome gõ địa chỉ là vào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cách app triển khai. Rất đơn giản:
- 1 máy server cố định — sẽ là máy tôi (anh oke). Máy này chạy app và lưu database. Luôn bật trong giờ làm.
- AE QC ở các bàn khác: mở Chrome hoặc Edge, gõ địa chỉ http://&lt;IP máy tôi&gt;:8501 → vào được app. KHÔNG CẦN CÀI ĐẶT.
Tất cả cùng nhìn 1 dữ liệu. Sửa là thấy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được chia thành 7 trang, mỗi trang 1 nhiệm vụ:
- Trang chủ: vào app thấy ngay. Chọn dự án, xem KPI nhanh.
- Tổng quan: dashboard chi tiết với biểu đồ.
- Import Master: nạp danh sách cấu kiện từ file PKL (BPM gửi).
- Import Daily: nạp file kiểm tra Fit-up hoặc Final hàng ngày.
- Cấu kiện: bảng tra cứu chi tiết.
- Báo cáo: xuất Excel tổng hợp cho sếp.
- Quản trị: backup, xem log.
Tôi sẽ demo từng trang.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chủ. Khi AE QC mở Chrome gõ địa chỉ vào app, đây là cái thấy đầu tiên.
Có 3 thứ quan trọng:
- Top nav 7 trang trên cùng — chuyển page bằng 1 click.
- Dropdown 'Dự án' bên phải — đổi dự án không cần thoát app.
- 6 ô vuông bên dưới — shortcut vào các trang 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Vào trang Tổng quan để xem tình trạng dự án trên 1 màn hình.
4 KPI chính: Tổng cấu kiện, Chưa KT, Đã Fit-up, Đã nghiệm thu.
Biểu đồ tròn: tỉ lệ trạng thái.
Biểu đồ cột: % hoàn thành từng xưởng (AH6, AH9, ...). 
Đây là trang sếp sẽ vào nhiều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rất đơn giản, chỉ 3 bước:
Bước 1: Import Master — làm 1 lần khi mới có dự án. Upload file PKL của BPM gửi, app tự nhận diện cột.
Bước 2: Import Daily — hàng ngày. Có file Fit-up hoặc Final mới ký thì upload lên app. App tự khớp theo Member No.
Bước 3: Theo dõi — bất cứ lúc nào sếp muốn xem tình hình, mở trang Tổng quan hoặc Bảng cấu kiện.
Hai bước import là chính. Còn lại app tự 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Import Master. Khi BPM gửi file PKL mới, AE QC làm 3 bước:
1. Kéo thả file PKL vào ô trên cùng.
2. App TỰ NHẬN diện ra các cột (mã cấu kiện, bản vẽ, xưởng, ...).
3. Bấm 'Import' → xong.
Nếu là file form chuẩn (VIOLA, PVF, Phú Quốc) thì có template sẵn — bấm 1 cái là map xong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tính năng MỚI của phiên bản 2.0 — rất hữu ích cho dự án đang chạy giữa chừng.
Ví dụ: dự án Phú Quốc đã chạy được 3 tháng. File master đã có sẵn cột RFI Fit-up và RFI Final cho các cấu kiện đã ký.
Nếu không có tính năng này, AE QC phải nhập tay hoặc import lại từng file daily — mất vài ngày.
Với tính năng này: chỉ cần import file master 1 lần → app tự tạo 1,160 bản ghi Fit-up PASS + 1,089 bản ghi Final PASS. Cấu kiện nào đã có Final → chuyển ngay sang trạng thái ĐÃ NGHIỆM THU.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tính năng kiểm soát Rev. Tại sao cần?
Trước đây: BPM gửi master mới mỗi tháng, có cấu kiện đã đổi Rev nhưng QC không biết. Vẫn kiểm tra theo bản vẽ cũ → cuối cùng phải làm lại.
Bây giờ: Mỗi lần import master mới, app SO SÁNH với master cũ. Phát hiện Rev đổi → cảnh báo ngay danh sách. AE QC biết để check lại.
Cái này là yêu cầu nghiệp vụ quan trọng nhất của tôi khi thiết kế app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Import Daily. AE QC dùng hàng ngày.
Workflow: Có file Fit-up mới ký (TVGS) → vào trang này → chọn radio 'Fit-up' → upload → bấm Import.
App tự khớp từng dòng trong file với cấu kiện trong master theo Member Punch No. Match bằng 3 cách để tăng tỷ lệ thành công.
Quan trọng: nếu AE upload file Final mà cấu kiện đó chưa có Fit-up → app sẽ CẢNH BÁO. Tránh sai thứ tự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AE QC import file Final, app check xem các cấu kiện trong file đã có Fit-up chưa.
Nếu CÓ cấu kiện chưa Fit-up → hiện dialog cảnh báo với danh sách cụ thể. AE QC có 2 lựa chọn:
- 'Vẫn import' (chấp nhận rủi ro) — app vẫn xử lý nhưng ghi log.
- 'Huỷ' — quay lại check lại file.
Tính năng này đảm bảo đúng quy trình QC: Fit-up xong rồi mới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trang Cấu kiện — trang AE QC dùng nhiều nhất.
Bảng 8 cột: Tên cấu kiện | Bản vẽ | Revision | Xưởng | Fit-up | Ngày Fit-up | Final | Ngày Final.
Có 3 thứ làm được:
1. Filter theo trạng thái (PASS/FAIL/Chưa KT)
2. Tìm kiếm theo mã cấu kiện
3. Inline edit: click thẳng vào ô Bản vẽ / Revision / Xưởng để sửa nhanh.
Cột Fit-up và Final tự cập nhật từ Daily Import — không cần sửa 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cấu kiện có thể lọc rất linh hoạt. Bật toggle 'Lọc cột' lên là có 5 dropdown style Excel: Zone, Phase, Material, Xưởng, Type.
Ví dụ thực tế:
- Muốn biết xưởng AH6 còn bao nhiêu cấu kiện chưa Final → lọc Xưởng=AH6 + Trạng thái=Đã Fit-up.
- Muốn ưu tiên check dầm chính → lọc Type=BEAM.
Lọc xong có thể xuất CSV ngay từ trang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Báo cáo dùng để xuất số liệu cho sếp.
Có sẵn: biểu đồ tổng hợp dự án, biểu đồ theo xưởng, biểu đồ theo tuần.
Nút 'Xuất Excel' tạo ra file .xlsx chuẩn — đính kèm email cho BPM hoặc BCH thoải mái.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nhanh trước/sau:
Cái lợi ích lớn nhất là TIẾT KIỆM THỜI GIAN tổng hợp báo cáo. Trước đây tôi mất 2-3 giờ/tuần. Bây giờ 1 click.
Cái lợi ích về CHẤT LƯỢNG là cảnh báo tự động. Trước đây hay quên check Rev → rework. Bây giờ app tự nhắc.
Cuối cùng: minh bạch. Mọi thao tác có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bài thuyết trình. Em xin tóm tắt 3 điểm chính:
1. App v2.0 thay thế cách làm Excel hiện tại — dùng chung qua trình duyệt.
2. Tính năng nổi bật: smart auto-detect, cảnh báo Rev, phát hiện inspection sẵn có trong master.
3. Triển khai 3 tuần: test → dùng thử → chính thức.
Mời AE QC + sếp đặt câu hỏi. Feedback nào cũng quý — em sẽ điều chỉnh app cho phù hợp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40"/>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D4A744"/>
          </a:solidFill>
          <a:ln/>
        </p:spPr>
      </p:sp>
      <p:sp>
        <p:nvSpPr>
          <p:cNvPr id="3" name="Shape 1"/>
          <p:cNvSpPr/>
          <p:nvPr/>
        </p:nvSpPr>
        <p:spPr>
          <a:xfrm>
            <a:off x="548640" y="914400"/>
            <a:ext cx="1005840" cy="1005840"/>
          </a:xfrm>
          <a:prstGeom prst="roundRect">
            <a:avLst>
              <a:gd name="adj" fmla="val 13636"/>
            </a:avLst>
          </a:prstGeom>
          <a:solidFill>
            <a:srgbClr val="D4A744"/>
          </a:solidFill>
          <a:ln/>
        </p:spPr>
      </p:sp>
      <p:sp>
        <p:nvSpPr>
          <p:cNvPr id="4" name="Text 2"/>
          <p:cNvSpPr/>
          <p:nvPr/>
        </p:nvSpPr>
        <p:spPr>
          <a:xfrm>
            <a:off x="548640" y="914400"/>
            <a:ext cx="1005840" cy="1005840"/>
          </a:xfrm>
          <a:prstGeom prst="rect">
            <a:avLst/>
          </a:prstGeom>
          <a:noFill/>
          <a:ln/>
        </p:spPr>
        <p:txBody>
          <a:bodyPr wrap="square" rtlCol="0" anchor="ctr"/>
          <a:lstStyle/>
          <a:p>
            <a:pPr algn="ctr" indent="0" marL="0">
              <a:buNone/>
            </a:pPr>
            <a:r>
              <a:rPr lang="en-US" sz="3600" b="1" dirty="0">
                <a:solidFill>
                  <a:srgbClr val="0F1E40"/>
                </a:solidFill>
                <a:latin typeface="Calibri" pitchFamily="34" charset="0"/>
                <a:ea typeface="Calibri" pitchFamily="34" charset="-122"/>
                <a:cs typeface="Calibri" pitchFamily="34" charset="-120"/>
              </a:rPr>
              <a:t>QC</a:t>
            </a:r>
            <a:endParaRPr lang="en-US" sz="3600" dirty="0"/>
          </a:p>
        </p:txBody>
      </p:sp>
      <p:sp>
        <p:nvSpPr>
          <p:cNvPr id="5" name="Text 3"/>
          <p:cNvSpPr/>
          <p:nvPr/>
        </p:nvSpPr>
        <p:spPr>
          <a:xfrm>
            <a:off x="548640" y="2103120"/>
            <a:ext cx="10972800"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QC Component Manager</a:t>
            </a:r>
            <a:endParaRPr lang="en-US" sz="5400" dirty="0"/>
          </a:p>
        </p:txBody>
      </p:sp>
      <p:sp>
        <p:nvSpPr>
          <p:cNvPr id="6" name="Text 4"/>
          <p:cNvSpPr/>
          <p:nvPr/>
        </p:nvSpPr>
        <p:spPr>
          <a:xfrm>
            <a:off x="548640" y="3017520"/>
            <a:ext cx="10972800" cy="457200"/>
          </a:xfrm>
          <a:prstGeom prst="rect">
            <a:avLst/>
          </a:prstGeom>
          <a:noFill/>
          <a:ln/>
        </p:spPr>
        <p:txBody>
          <a:bodyPr wrap="square" rtlCol="0" anchor="ctr"/>
          <a:lstStyle/>
          <a:p>
            <a:pPr indent="0" marL="0">
              <a:buNone/>
            </a:pPr>
            <a:r>
              <a:rPr lang="en-US" sz="2200" dirty="0">
                <a:solidFill>
                  <a:srgbClr val="FCE7A1"/>
                </a:solidFill>
                <a:latin typeface="Calibri" pitchFamily="34" charset="0"/>
                <a:ea typeface="Calibri" pitchFamily="34" charset="-122"/>
                <a:cs typeface="Calibri" pitchFamily="34" charset="-120"/>
              </a:rPr>
              <a:t>v2.0  —  Web app dùng chung cho phòng QC</a:t>
            </a:r>
            <a:endParaRPr lang="en-US" sz="2200" dirty="0"/>
          </a:p>
        </p:txBody>
      </p:sp>
      <p:sp>
        <p:nvSpPr>
          <p:cNvPr id="7" name="Text 5"/>
          <p:cNvSpPr/>
          <p:nvPr/>
        </p:nvSpPr>
        <p:spPr>
          <a:xfrm>
            <a:off x="548640" y="4114800"/>
            <a:ext cx="10972800" cy="36576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Từ Excel chia sẻ qua mạng  →  Web app real-time, đa người dùng</a:t>
            </a:r>
            <a:endParaRPr lang="en-US" sz="1800" dirty="0"/>
          </a:p>
        </p:txBody>
      </p:sp>
      <p:sp>
        <p:nvSpPr>
          <p:cNvPr id="8" name="Shape 6"/>
          <p:cNvSpPr/>
          <p:nvPr/>
        </p:nvSpPr>
        <p:spPr>
          <a:xfrm>
            <a:off x="548640" y="5486400"/>
            <a:ext cx="3657600" cy="0"/>
          </a:xfrm>
          <a:prstGeom prst="line">
            <a:avLst/>
          </a:prstGeom>
          <a:noFill/>
          <a:ln w="25400">
            <a:solidFill>
              <a:srgbClr val="D4A744"/>
            </a:solidFill>
            <a:prstDash val="solid"/>
          </a:ln>
        </p:spPr>
      </p:sp>
      <p:sp>
        <p:nvSpPr>
          <p:cNvPr id="9" name="Text 7"/>
          <p:cNvSpPr/>
          <p:nvPr/>
        </p:nvSpPr>
        <p:spPr>
          <a:xfrm>
            <a:off x="548640" y="5577840"/>
            <a:ext cx="54864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Đại Dũng  •  Phòng QC</a:t>
            </a:r>
            <a:endParaRPr lang="en-US" sz="1600" dirty="0"/>
          </a:p>
        </p:txBody>
      </p:sp>
      <p:sp>
        <p:nvSpPr>
          <p:cNvPr id="10" name="Text 8"/>
          <p:cNvSpPr/>
          <p:nvPr/>
        </p:nvSpPr>
        <p:spPr>
          <a:xfrm>
            <a:off x="548640" y="5943600"/>
            <a:ext cx="5486400" cy="274320"/>
          </a:xfrm>
          <a:prstGeom prst="rect">
            <a:avLst/>
          </a:prstGeom>
          <a:noFill/>
          <a:ln/>
        </p:spPr>
        <p:txBody>
          <a:bodyPr wrap="square" rtlCol="0" anchor="ctr"/>
          <a:lstStyle/>
          <a:p>
            <a:pPr indent="0" marL="0">
              <a:buNone/>
            </a:pPr>
            <a:r>
              <a:rPr lang="en-US" sz="1200" dirty="0">
                <a:solidFill>
                  <a:srgbClr val="FCE7A1"/>
                </a:solidFill>
                <a:latin typeface="Calibri" pitchFamily="34" charset="0"/>
                <a:ea typeface="Calibri" pitchFamily="34" charset="-122"/>
                <a:cs typeface="Calibri" pitchFamily="34" charset="-120"/>
              </a:rPr>
              <a:t>Thuyết trình nội bộ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01</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Cách làm hiện nay có gì khó?</a:t>
            </a:r>
            <a:endParaRPr lang="en-US" sz="3200" dirty="0"/>
          </a:p>
        </p:txBody>
      </p:sp>
      <p:sp>
        <p:nvSpPr>
          <p:cNvPr id="4" name="Text 2"/>
          <p:cNvSpPr/>
          <p:nvPr/>
        </p:nvSpPr>
        <p:spPr>
          <a:xfrm>
            <a:off x="457200" y="1417320"/>
            <a:ext cx="109728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4 đau đầu lớn nhất của phòng QC khi quản lý cấu kiện qua Excel chia sẻ</a:t>
            </a:r>
            <a:endParaRPr lang="en-US" sz="1400" dirty="0"/>
          </a:p>
        </p:txBody>
      </p:sp>
      <p:sp>
        <p:nvSpPr>
          <p:cNvPr id="5" name="Shape 3"/>
          <p:cNvSpPr/>
          <p:nvPr/>
        </p:nvSpPr>
        <p:spPr>
          <a:xfrm>
            <a:off x="457200" y="2011680"/>
            <a:ext cx="5303520" cy="2011680"/>
          </a:xfrm>
          <a:prstGeom prst="roundRect">
            <a:avLst>
              <a:gd name="adj" fmla="val 4545"/>
            </a:avLst>
          </a:prstGeom>
          <a:solidFill>
            <a:srgbClr val="FFFFFF"/>
          </a:solidFill>
          <a:ln w="12700">
            <a:solidFill>
              <a:srgbClr val="E2E8F0"/>
            </a:solidFill>
            <a:prstDash val="solid"/>
          </a:ln>
        </p:spPr>
      </p:sp>
      <p:sp>
        <p:nvSpPr>
          <p:cNvPr id="6" name="Shape 4"/>
          <p:cNvSpPr/>
          <p:nvPr/>
        </p:nvSpPr>
        <p:spPr>
          <a:xfrm>
            <a:off x="731520" y="2286000"/>
            <a:ext cx="822960" cy="822960"/>
          </a:xfrm>
          <a:prstGeom prst="ellipse">
            <a:avLst/>
          </a:prstGeom>
          <a:solidFill>
            <a:srgbClr val="FCE7A1"/>
          </a:solidFill>
          <a:ln/>
        </p:spPr>
      </p:sp>
      <p:sp>
        <p:nvSpPr>
          <p:cNvPr id="7" name="Text 5"/>
          <p:cNvSpPr/>
          <p:nvPr/>
        </p:nvSpPr>
        <p:spPr>
          <a:xfrm>
            <a:off x="731520" y="2286000"/>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8" name="Text 6"/>
          <p:cNvSpPr/>
          <p:nvPr/>
        </p:nvSpPr>
        <p:spPr>
          <a:xfrm>
            <a:off x="1737360" y="2331720"/>
            <a:ext cx="384048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Xung đột file Excel</a:t>
            </a:r>
            <a:endParaRPr lang="en-US" sz="1800" dirty="0"/>
          </a:p>
        </p:txBody>
      </p:sp>
      <p:sp>
        <p:nvSpPr>
          <p:cNvPr id="9" name="Text 7"/>
          <p:cNvSpPr/>
          <p:nvPr/>
        </p:nvSpPr>
        <p:spPr>
          <a:xfrm>
            <a:off x="1737360" y="2788920"/>
            <a:ext cx="3840480" cy="109728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Nhiều người mở cùng lúc → version cuối ghi đè bản khác. Mất dữ liệu kiểm tra.</a:t>
            </a:r>
            <a:endParaRPr lang="en-US" sz="1300" dirty="0"/>
          </a:p>
        </p:txBody>
      </p:sp>
      <p:sp>
        <p:nvSpPr>
          <p:cNvPr id="10" name="Shape 8"/>
          <p:cNvSpPr/>
          <p:nvPr/>
        </p:nvSpPr>
        <p:spPr>
          <a:xfrm>
            <a:off x="6035040" y="2011680"/>
            <a:ext cx="5303520" cy="2011680"/>
          </a:xfrm>
          <a:prstGeom prst="roundRect">
            <a:avLst>
              <a:gd name="adj" fmla="val 4545"/>
            </a:avLst>
          </a:prstGeom>
          <a:solidFill>
            <a:srgbClr val="FFFFFF"/>
          </a:solidFill>
          <a:ln w="12700">
            <a:solidFill>
              <a:srgbClr val="E2E8F0"/>
            </a:solidFill>
            <a:prstDash val="solid"/>
          </a:ln>
        </p:spPr>
      </p:sp>
      <p:sp>
        <p:nvSpPr>
          <p:cNvPr id="11" name="Shape 9"/>
          <p:cNvSpPr/>
          <p:nvPr/>
        </p:nvSpPr>
        <p:spPr>
          <a:xfrm>
            <a:off x="6309360" y="2286000"/>
            <a:ext cx="822960" cy="822960"/>
          </a:xfrm>
          <a:prstGeom prst="ellipse">
            <a:avLst/>
          </a:prstGeom>
          <a:solidFill>
            <a:srgbClr val="FCE7A1"/>
          </a:solidFill>
          <a:ln/>
        </p:spPr>
      </p:sp>
      <p:sp>
        <p:nvSpPr>
          <p:cNvPr id="12" name="Text 10"/>
          <p:cNvSpPr/>
          <p:nvPr/>
        </p:nvSpPr>
        <p:spPr>
          <a:xfrm>
            <a:off x="6309360" y="2286000"/>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3" name="Text 11"/>
          <p:cNvSpPr/>
          <p:nvPr/>
        </p:nvSpPr>
        <p:spPr>
          <a:xfrm>
            <a:off x="7315200" y="2331720"/>
            <a:ext cx="384048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Không biết ai sửa gì</a:t>
            </a:r>
            <a:endParaRPr lang="en-US" sz="1800" dirty="0"/>
          </a:p>
        </p:txBody>
      </p:sp>
      <p:sp>
        <p:nvSpPr>
          <p:cNvPr id="14" name="Text 12"/>
          <p:cNvSpPr/>
          <p:nvPr/>
        </p:nvSpPr>
        <p:spPr>
          <a:xfrm>
            <a:off x="7315200" y="2788920"/>
            <a:ext cx="3840480" cy="109728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Không có lịch sử thay đổi. Sai sót khó truy ngược nguồn gốc.</a:t>
            </a:r>
            <a:endParaRPr lang="en-US" sz="1300" dirty="0"/>
          </a:p>
        </p:txBody>
      </p:sp>
      <p:sp>
        <p:nvSpPr>
          <p:cNvPr id="15" name="Shape 13"/>
          <p:cNvSpPr/>
          <p:nvPr/>
        </p:nvSpPr>
        <p:spPr>
          <a:xfrm>
            <a:off x="457200" y="4297680"/>
            <a:ext cx="5303520" cy="2011680"/>
          </a:xfrm>
          <a:prstGeom prst="roundRect">
            <a:avLst>
              <a:gd name="adj" fmla="val 4545"/>
            </a:avLst>
          </a:prstGeom>
          <a:solidFill>
            <a:srgbClr val="FFFFFF"/>
          </a:solidFill>
          <a:ln w="12700">
            <a:solidFill>
              <a:srgbClr val="E2E8F0"/>
            </a:solidFill>
            <a:prstDash val="solid"/>
          </a:ln>
        </p:spPr>
      </p:sp>
      <p:sp>
        <p:nvSpPr>
          <p:cNvPr id="16" name="Shape 14"/>
          <p:cNvSpPr/>
          <p:nvPr/>
        </p:nvSpPr>
        <p:spPr>
          <a:xfrm>
            <a:off x="731520" y="4572000"/>
            <a:ext cx="822960" cy="822960"/>
          </a:xfrm>
          <a:prstGeom prst="ellipse">
            <a:avLst/>
          </a:prstGeom>
          <a:solidFill>
            <a:srgbClr val="FCE7A1"/>
          </a:solidFill>
          <a:ln/>
        </p:spPr>
      </p:sp>
      <p:sp>
        <p:nvSpPr>
          <p:cNvPr id="17" name="Text 15"/>
          <p:cNvSpPr/>
          <p:nvPr/>
        </p:nvSpPr>
        <p:spPr>
          <a:xfrm>
            <a:off x="731520" y="4572000"/>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1737360" y="4617720"/>
            <a:ext cx="384048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Tổng hợp báo cáo thủ công</a:t>
            </a:r>
            <a:endParaRPr lang="en-US" sz="1800" dirty="0"/>
          </a:p>
        </p:txBody>
      </p:sp>
      <p:sp>
        <p:nvSpPr>
          <p:cNvPr id="19" name="Text 17"/>
          <p:cNvSpPr/>
          <p:nvPr/>
        </p:nvSpPr>
        <p:spPr>
          <a:xfrm>
            <a:off x="1737360" y="5074920"/>
            <a:ext cx="3840480" cy="109728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Mỗi tuần phải copy-paste từ nhiều file → mất 2-3 giờ. Sai số cao.</a:t>
            </a:r>
            <a:endParaRPr lang="en-US" sz="1300" dirty="0"/>
          </a:p>
        </p:txBody>
      </p:sp>
      <p:sp>
        <p:nvSpPr>
          <p:cNvPr id="20" name="Shape 18"/>
          <p:cNvSpPr/>
          <p:nvPr/>
        </p:nvSpPr>
        <p:spPr>
          <a:xfrm>
            <a:off x="6035040" y="4297680"/>
            <a:ext cx="5303520" cy="2011680"/>
          </a:xfrm>
          <a:prstGeom prst="roundRect">
            <a:avLst>
              <a:gd name="adj" fmla="val 4545"/>
            </a:avLst>
          </a:prstGeom>
          <a:solidFill>
            <a:srgbClr val="FFFFFF"/>
          </a:solidFill>
          <a:ln w="12700">
            <a:solidFill>
              <a:srgbClr val="E2E8F0"/>
            </a:solidFill>
            <a:prstDash val="solid"/>
          </a:ln>
        </p:spPr>
      </p:sp>
      <p:sp>
        <p:nvSpPr>
          <p:cNvPr id="21" name="Shape 19"/>
          <p:cNvSpPr/>
          <p:nvPr/>
        </p:nvSpPr>
        <p:spPr>
          <a:xfrm>
            <a:off x="6309360" y="4572000"/>
            <a:ext cx="822960" cy="822960"/>
          </a:xfrm>
          <a:prstGeom prst="ellipse">
            <a:avLst/>
          </a:prstGeom>
          <a:solidFill>
            <a:srgbClr val="FCE7A1"/>
          </a:solidFill>
          <a:ln/>
        </p:spPr>
      </p:sp>
      <p:sp>
        <p:nvSpPr>
          <p:cNvPr id="22" name="Text 20"/>
          <p:cNvSpPr/>
          <p:nvPr/>
        </p:nvSpPr>
        <p:spPr>
          <a:xfrm>
            <a:off x="6309360" y="4572000"/>
            <a:ext cx="82296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3" name="Text 21"/>
          <p:cNvSpPr/>
          <p:nvPr/>
        </p:nvSpPr>
        <p:spPr>
          <a:xfrm>
            <a:off x="7315200" y="4617720"/>
            <a:ext cx="384048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Không kiểm soát Rev tự động</a:t>
            </a:r>
            <a:endParaRPr lang="en-US" sz="1800" dirty="0"/>
          </a:p>
        </p:txBody>
      </p:sp>
      <p:sp>
        <p:nvSpPr>
          <p:cNvPr id="24" name="Text 22"/>
          <p:cNvSpPr/>
          <p:nvPr/>
        </p:nvSpPr>
        <p:spPr>
          <a:xfrm>
            <a:off x="7315200" y="5074920"/>
            <a:ext cx="3840480" cy="109728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Bản vẽ thay đổi mà chưa biết → vẫn dùng Rev cũ → rework, tốn vật tư.</a:t>
            </a:r>
            <a:endParaRPr lang="en-US" sz="1300" dirty="0"/>
          </a:p>
        </p:txBody>
      </p:sp>
      <p:sp>
        <p:nvSpPr>
          <p:cNvPr id="25" name="Text 2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2/18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02</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Giải pháp: Web app dùng chung</a:t>
            </a:r>
            <a:endParaRPr lang="en-US" sz="3200" dirty="0"/>
          </a:p>
        </p:txBody>
      </p:sp>
      <p:sp>
        <p:nvSpPr>
          <p:cNvPr id="4" name="Text 2"/>
          <p:cNvSpPr/>
          <p:nvPr/>
        </p:nvSpPr>
        <p:spPr>
          <a:xfrm>
            <a:off x="457200" y="1417320"/>
            <a:ext cx="109728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Một nguồn dữ liệu duy nhất • Mọi QC vào qua trình duyệt • Không cài đặt</a:t>
            </a:r>
            <a:endParaRPr lang="en-US" sz="1400" dirty="0"/>
          </a:p>
        </p:txBody>
      </p:sp>
      <p:sp>
        <p:nvSpPr>
          <p:cNvPr id="5" name="Shape 3"/>
          <p:cNvSpPr/>
          <p:nvPr/>
        </p:nvSpPr>
        <p:spPr>
          <a:xfrm>
            <a:off x="548640" y="2103120"/>
            <a:ext cx="777240" cy="777240"/>
          </a:xfrm>
          <a:prstGeom prst="ellipse">
            <a:avLst/>
          </a:prstGeom>
          <a:solidFill>
            <a:srgbClr val="0F1E40"/>
          </a:solidFill>
          <a:ln/>
        </p:spPr>
      </p:sp>
      <p:sp>
        <p:nvSpPr>
          <p:cNvPr id="6" name="Text 4"/>
          <p:cNvSpPr/>
          <p:nvPr/>
        </p:nvSpPr>
        <p:spPr>
          <a:xfrm>
            <a:off x="548640" y="2103120"/>
            <a:ext cx="777240" cy="777240"/>
          </a:xfrm>
          <a:prstGeom prst="rect">
            <a:avLst/>
          </a:prstGeom>
          <a:noFill/>
          <a:ln/>
        </p:spPr>
        <p:txBody>
          <a:bodyPr wrap="square" rtlCol="0" anchor="ctr"/>
          <a:lstStyle/>
          <a:p>
            <a:pPr algn="ctr" indent="0" marL="0">
              <a:buNone/>
            </a:pPr>
            <a:r>
              <a:rPr lang="en-US" sz="2800" b="1" dirty="0">
                <a:solidFill>
                  <a:srgbClr val="D4A744"/>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1554480" y="2057400"/>
            <a:ext cx="10058400" cy="411480"/>
          </a:xfrm>
          <a:prstGeom prst="rect">
            <a:avLst/>
          </a:prstGeom>
          <a:noFill/>
          <a:ln/>
        </p:spPr>
        <p:txBody>
          <a:bodyPr wrap="square" rtlCol="0" anchor="ctr"/>
          <a:lstStyle/>
          <a:p>
            <a:pPr indent="0" marL="0">
              <a:buNone/>
            </a:pPr>
            <a:r>
              <a:rPr lang="en-US" sz="2000" b="1" dirty="0">
                <a:solidFill>
                  <a:srgbClr val="0F1E40"/>
                </a:solidFill>
                <a:latin typeface="Calibri" pitchFamily="34" charset="0"/>
                <a:ea typeface="Calibri" pitchFamily="34" charset="-122"/>
                <a:cs typeface="Calibri" pitchFamily="34" charset="-120"/>
              </a:rPr>
              <a:t>Dữ liệu tập trung</a:t>
            </a:r>
            <a:endParaRPr lang="en-US" sz="2000" dirty="0"/>
          </a:p>
        </p:txBody>
      </p:sp>
      <p:sp>
        <p:nvSpPr>
          <p:cNvPr id="8" name="Text 6"/>
          <p:cNvSpPr/>
          <p:nvPr/>
        </p:nvSpPr>
        <p:spPr>
          <a:xfrm>
            <a:off x="1554480" y="2468880"/>
            <a:ext cx="10058400" cy="50292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database duy nhất trên 1 máy server. Cả phòng QC dùng chung — không còn file lẫn lộn.</a:t>
            </a:r>
            <a:endParaRPr lang="en-US" sz="1400" dirty="0"/>
          </a:p>
        </p:txBody>
      </p:sp>
      <p:sp>
        <p:nvSpPr>
          <p:cNvPr id="9" name="Shape 7"/>
          <p:cNvSpPr/>
          <p:nvPr/>
        </p:nvSpPr>
        <p:spPr>
          <a:xfrm>
            <a:off x="548640" y="3108960"/>
            <a:ext cx="777240" cy="777240"/>
          </a:xfrm>
          <a:prstGeom prst="ellipse">
            <a:avLst/>
          </a:prstGeom>
          <a:solidFill>
            <a:srgbClr val="0F1E40"/>
          </a:solidFill>
          <a:ln/>
        </p:spPr>
      </p:sp>
      <p:sp>
        <p:nvSpPr>
          <p:cNvPr id="10" name="Text 8"/>
          <p:cNvSpPr/>
          <p:nvPr/>
        </p:nvSpPr>
        <p:spPr>
          <a:xfrm>
            <a:off x="548640" y="3108960"/>
            <a:ext cx="777240" cy="777240"/>
          </a:xfrm>
          <a:prstGeom prst="rect">
            <a:avLst/>
          </a:prstGeom>
          <a:noFill/>
          <a:ln/>
        </p:spPr>
        <p:txBody>
          <a:bodyPr wrap="square" rtlCol="0" anchor="ctr"/>
          <a:lstStyle/>
          <a:p>
            <a:pPr algn="ctr" indent="0" marL="0">
              <a:buNone/>
            </a:pPr>
            <a:r>
              <a:rPr lang="en-US" sz="2800" b="1" dirty="0">
                <a:solidFill>
                  <a:srgbClr val="D4A744"/>
                </a:solidFill>
                <a:latin typeface="Calibri" pitchFamily="34" charset="0"/>
                <a:ea typeface="Calibri" pitchFamily="34" charset="-122"/>
                <a:cs typeface="Calibri" pitchFamily="34" charset="-120"/>
              </a:rPr>
              <a:t>2</a:t>
            </a:r>
            <a:endParaRPr lang="en-US" sz="2800" dirty="0"/>
          </a:p>
        </p:txBody>
      </p:sp>
      <p:sp>
        <p:nvSpPr>
          <p:cNvPr id="11" name="Text 9"/>
          <p:cNvSpPr/>
          <p:nvPr/>
        </p:nvSpPr>
        <p:spPr>
          <a:xfrm>
            <a:off x="1554480" y="3063240"/>
            <a:ext cx="10058400" cy="411480"/>
          </a:xfrm>
          <a:prstGeom prst="rect">
            <a:avLst/>
          </a:prstGeom>
          <a:noFill/>
          <a:ln/>
        </p:spPr>
        <p:txBody>
          <a:bodyPr wrap="square" rtlCol="0" anchor="ctr"/>
          <a:lstStyle/>
          <a:p>
            <a:pPr indent="0" marL="0">
              <a:buNone/>
            </a:pPr>
            <a:r>
              <a:rPr lang="en-US" sz="2000" b="1" dirty="0">
                <a:solidFill>
                  <a:srgbClr val="0F1E40"/>
                </a:solidFill>
                <a:latin typeface="Calibri" pitchFamily="34" charset="0"/>
                <a:ea typeface="Calibri" pitchFamily="34" charset="-122"/>
                <a:cs typeface="Calibri" pitchFamily="34" charset="-120"/>
              </a:rPr>
              <a:t>Real-time đa người dùng</a:t>
            </a:r>
            <a:endParaRPr lang="en-US" sz="2000" dirty="0"/>
          </a:p>
        </p:txBody>
      </p:sp>
      <p:sp>
        <p:nvSpPr>
          <p:cNvPr id="12" name="Text 10"/>
          <p:cNvSpPr/>
          <p:nvPr/>
        </p:nvSpPr>
        <p:spPr>
          <a:xfrm>
            <a:off x="1554480" y="3474720"/>
            <a:ext cx="10058400" cy="50292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AE A nhập file daily, AE B vào xem là thấy ngay. Không cần gửi qua lại Zalo.</a:t>
            </a:r>
            <a:endParaRPr lang="en-US" sz="1400" dirty="0"/>
          </a:p>
        </p:txBody>
      </p:sp>
      <p:sp>
        <p:nvSpPr>
          <p:cNvPr id="13" name="Shape 11"/>
          <p:cNvSpPr/>
          <p:nvPr/>
        </p:nvSpPr>
        <p:spPr>
          <a:xfrm>
            <a:off x="548640" y="4114800"/>
            <a:ext cx="777240" cy="777240"/>
          </a:xfrm>
          <a:prstGeom prst="ellipse">
            <a:avLst/>
          </a:prstGeom>
          <a:solidFill>
            <a:srgbClr val="0F1E40"/>
          </a:solidFill>
          <a:ln/>
        </p:spPr>
      </p:sp>
      <p:sp>
        <p:nvSpPr>
          <p:cNvPr id="14" name="Text 12"/>
          <p:cNvSpPr/>
          <p:nvPr/>
        </p:nvSpPr>
        <p:spPr>
          <a:xfrm>
            <a:off x="548640" y="4114800"/>
            <a:ext cx="777240" cy="777240"/>
          </a:xfrm>
          <a:prstGeom prst="rect">
            <a:avLst/>
          </a:prstGeom>
          <a:noFill/>
          <a:ln/>
        </p:spPr>
        <p:txBody>
          <a:bodyPr wrap="square" rtlCol="0" anchor="ctr"/>
          <a:lstStyle/>
          <a:p>
            <a:pPr algn="ctr" indent="0" marL="0">
              <a:buNone/>
            </a:pPr>
            <a:r>
              <a:rPr lang="en-US" sz="2800" b="1" dirty="0">
                <a:solidFill>
                  <a:srgbClr val="D4A744"/>
                </a:solidFill>
                <a:latin typeface="Calibri" pitchFamily="34" charset="0"/>
                <a:ea typeface="Calibri" pitchFamily="34" charset="-122"/>
                <a:cs typeface="Calibri" pitchFamily="34" charset="-120"/>
              </a:rPr>
              <a:t>3</a:t>
            </a:r>
            <a:endParaRPr lang="en-US" sz="2800" dirty="0"/>
          </a:p>
        </p:txBody>
      </p:sp>
      <p:sp>
        <p:nvSpPr>
          <p:cNvPr id="15" name="Text 13"/>
          <p:cNvSpPr/>
          <p:nvPr/>
        </p:nvSpPr>
        <p:spPr>
          <a:xfrm>
            <a:off x="1554480" y="4069080"/>
            <a:ext cx="10058400" cy="411480"/>
          </a:xfrm>
          <a:prstGeom prst="rect">
            <a:avLst/>
          </a:prstGeom>
          <a:noFill/>
          <a:ln/>
        </p:spPr>
        <p:txBody>
          <a:bodyPr wrap="square" rtlCol="0" anchor="ctr"/>
          <a:lstStyle/>
          <a:p>
            <a:pPr indent="0" marL="0">
              <a:buNone/>
            </a:pPr>
            <a:r>
              <a:rPr lang="en-US" sz="2000" b="1" dirty="0">
                <a:solidFill>
                  <a:srgbClr val="0F1E40"/>
                </a:solidFill>
                <a:latin typeface="Calibri" pitchFamily="34" charset="0"/>
                <a:ea typeface="Calibri" pitchFamily="34" charset="-122"/>
                <a:cs typeface="Calibri" pitchFamily="34" charset="-120"/>
              </a:rPr>
              <a:t>Audit log đầy đủ</a:t>
            </a:r>
            <a:endParaRPr lang="en-US" sz="2000" dirty="0"/>
          </a:p>
        </p:txBody>
      </p:sp>
      <p:sp>
        <p:nvSpPr>
          <p:cNvPr id="16" name="Text 14"/>
          <p:cNvSpPr/>
          <p:nvPr/>
        </p:nvSpPr>
        <p:spPr>
          <a:xfrm>
            <a:off x="1554480" y="4480560"/>
            <a:ext cx="10058400" cy="50292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Mỗi thao tác đều ghi nhận: ai, lúc nào, làm gì. Truy ngược dễ dàng khi cần.</a:t>
            </a:r>
            <a:endParaRPr lang="en-US" sz="1400" dirty="0"/>
          </a:p>
        </p:txBody>
      </p:sp>
      <p:sp>
        <p:nvSpPr>
          <p:cNvPr id="17" name="Shape 15"/>
          <p:cNvSpPr/>
          <p:nvPr/>
        </p:nvSpPr>
        <p:spPr>
          <a:xfrm>
            <a:off x="548640" y="5120640"/>
            <a:ext cx="777240" cy="777240"/>
          </a:xfrm>
          <a:prstGeom prst="ellipse">
            <a:avLst/>
          </a:prstGeom>
          <a:solidFill>
            <a:srgbClr val="0F1E40"/>
          </a:solidFill>
          <a:ln/>
        </p:spPr>
      </p:sp>
      <p:sp>
        <p:nvSpPr>
          <p:cNvPr id="18" name="Text 16"/>
          <p:cNvSpPr/>
          <p:nvPr/>
        </p:nvSpPr>
        <p:spPr>
          <a:xfrm>
            <a:off x="548640" y="5120640"/>
            <a:ext cx="777240" cy="777240"/>
          </a:xfrm>
          <a:prstGeom prst="rect">
            <a:avLst/>
          </a:prstGeom>
          <a:noFill/>
          <a:ln/>
        </p:spPr>
        <p:txBody>
          <a:bodyPr wrap="square" rtlCol="0" anchor="ctr"/>
          <a:lstStyle/>
          <a:p>
            <a:pPr algn="ctr" indent="0" marL="0">
              <a:buNone/>
            </a:pPr>
            <a:r>
              <a:rPr lang="en-US" sz="2800" b="1" dirty="0">
                <a:solidFill>
                  <a:srgbClr val="D4A744"/>
                </a:solidFill>
                <a:latin typeface="Calibri" pitchFamily="34" charset="0"/>
                <a:ea typeface="Calibri" pitchFamily="34" charset="-122"/>
                <a:cs typeface="Calibri" pitchFamily="34" charset="-120"/>
              </a:rPr>
              <a:t>4</a:t>
            </a:r>
            <a:endParaRPr lang="en-US" sz="2800" dirty="0"/>
          </a:p>
        </p:txBody>
      </p:sp>
      <p:sp>
        <p:nvSpPr>
          <p:cNvPr id="19" name="Text 17"/>
          <p:cNvSpPr/>
          <p:nvPr/>
        </p:nvSpPr>
        <p:spPr>
          <a:xfrm>
            <a:off x="1554480" y="5074920"/>
            <a:ext cx="10058400" cy="411480"/>
          </a:xfrm>
          <a:prstGeom prst="rect">
            <a:avLst/>
          </a:prstGeom>
          <a:noFill/>
          <a:ln/>
        </p:spPr>
        <p:txBody>
          <a:bodyPr wrap="square" rtlCol="0" anchor="ctr"/>
          <a:lstStyle/>
          <a:p>
            <a:pPr indent="0" marL="0">
              <a:buNone/>
            </a:pPr>
            <a:r>
              <a:rPr lang="en-US" sz="2000" b="1" dirty="0">
                <a:solidFill>
                  <a:srgbClr val="0F1E40"/>
                </a:solidFill>
                <a:latin typeface="Calibri" pitchFamily="34" charset="0"/>
                <a:ea typeface="Calibri" pitchFamily="34" charset="-122"/>
                <a:cs typeface="Calibri" pitchFamily="34" charset="-120"/>
              </a:rPr>
              <a:t>Cảnh báo tự động</a:t>
            </a:r>
            <a:endParaRPr lang="en-US" sz="2000" dirty="0"/>
          </a:p>
        </p:txBody>
      </p:sp>
      <p:sp>
        <p:nvSpPr>
          <p:cNvPr id="20" name="Text 18"/>
          <p:cNvSpPr/>
          <p:nvPr/>
        </p:nvSpPr>
        <p:spPr>
          <a:xfrm>
            <a:off x="1554480" y="5486400"/>
            <a:ext cx="10058400" cy="50292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Rev đổi → cảnh báo. Final mà chưa Fit-up → cảnh báo. Giảm sai sót do quên.</a:t>
            </a:r>
            <a:endParaRPr lang="en-US" sz="1400" dirty="0"/>
          </a:p>
        </p:txBody>
      </p:sp>
      <p:sp>
        <p:nvSpPr>
          <p:cNvPr id="21" name="Text 19"/>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3/18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03</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Kiến trúc triển khai</a:t>
            </a:r>
            <a:endParaRPr lang="en-US" sz="3200" dirty="0"/>
          </a:p>
        </p:txBody>
      </p:sp>
      <p:sp>
        <p:nvSpPr>
          <p:cNvPr id="4" name="Text 2"/>
          <p:cNvSpPr/>
          <p:nvPr/>
        </p:nvSpPr>
        <p:spPr>
          <a:xfrm>
            <a:off x="457200" y="1417320"/>
            <a:ext cx="109728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1 máy server cố định  •  Mọi QC truy cập qua LAN công ty</a:t>
            </a:r>
            <a:endParaRPr lang="en-US" sz="1400" dirty="0"/>
          </a:p>
        </p:txBody>
      </p:sp>
      <p:sp>
        <p:nvSpPr>
          <p:cNvPr id="5" name="Shape 3"/>
          <p:cNvSpPr/>
          <p:nvPr/>
        </p:nvSpPr>
        <p:spPr>
          <a:xfrm>
            <a:off x="5029200" y="2194560"/>
            <a:ext cx="2194560" cy="1097280"/>
          </a:xfrm>
          <a:prstGeom prst="roundRect">
            <a:avLst>
              <a:gd name="adj" fmla="val 8333"/>
            </a:avLst>
          </a:prstGeom>
          <a:solidFill>
            <a:srgbClr val="0F1E40"/>
          </a:solidFill>
          <a:ln w="25400">
            <a:solidFill>
              <a:srgbClr val="D4A744"/>
            </a:solidFill>
            <a:prstDash val="solid"/>
          </a:ln>
        </p:spPr>
      </p:sp>
      <p:sp>
        <p:nvSpPr>
          <p:cNvPr id="6" name="Text 4"/>
          <p:cNvSpPr/>
          <p:nvPr/>
        </p:nvSpPr>
        <p:spPr>
          <a:xfrm>
            <a:off x="5029200" y="2240280"/>
            <a:ext cx="2194560" cy="365760"/>
          </a:xfrm>
          <a:prstGeom prst="rect">
            <a:avLst/>
          </a:prstGeom>
          <a:noFill/>
          <a:ln/>
        </p:spPr>
        <p:txBody>
          <a:bodyPr wrap="square" rtlCol="0" anchor="ctr"/>
          <a:lstStyle/>
          <a:p>
            <a:pPr algn="ctr" indent="0" marL="0">
              <a:buNone/>
            </a:pPr>
            <a:r>
              <a:rPr lang="en-US" sz="1400" b="1" dirty="0">
                <a:solidFill>
                  <a:srgbClr val="D4A744"/>
                </a:solidFill>
                <a:latin typeface="Calibri" pitchFamily="34" charset="0"/>
                <a:ea typeface="Calibri" pitchFamily="34" charset="-122"/>
                <a:cs typeface="Calibri" pitchFamily="34" charset="-120"/>
              </a:rPr>
              <a:t>🖥  MÁY SERVER</a:t>
            </a:r>
            <a:endParaRPr lang="en-US" sz="1400" dirty="0"/>
          </a:p>
        </p:txBody>
      </p:sp>
      <p:sp>
        <p:nvSpPr>
          <p:cNvPr id="7" name="Text 5"/>
          <p:cNvSpPr/>
          <p:nvPr/>
        </p:nvSpPr>
        <p:spPr>
          <a:xfrm>
            <a:off x="5029200" y="2606040"/>
            <a:ext cx="2194560" cy="2743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Máy của anh oke</a:t>
            </a:r>
            <a:endParaRPr lang="en-US" sz="1100" dirty="0"/>
          </a:p>
        </p:txBody>
      </p:sp>
      <p:sp>
        <p:nvSpPr>
          <p:cNvPr id="8" name="Text 6"/>
          <p:cNvSpPr/>
          <p:nvPr/>
        </p:nvSpPr>
        <p:spPr>
          <a:xfrm>
            <a:off x="5029200" y="2880360"/>
            <a:ext cx="2194560" cy="274320"/>
          </a:xfrm>
          <a:prstGeom prst="rect">
            <a:avLst/>
          </a:prstGeom>
          <a:noFill/>
          <a:ln/>
        </p:spPr>
        <p:txBody>
          <a:bodyPr wrap="square" rtlCol="0" anchor="ctr"/>
          <a:lstStyle/>
          <a:p>
            <a:pPr algn="ctr" indent="0" marL="0">
              <a:buNone/>
            </a:pPr>
            <a:r>
              <a:rPr lang="en-US" sz="1100" dirty="0">
                <a:solidFill>
                  <a:srgbClr val="FCE7A1"/>
                </a:solidFill>
                <a:latin typeface="Calibri" pitchFamily="34" charset="0"/>
                <a:ea typeface="Calibri" pitchFamily="34" charset="-122"/>
                <a:cs typeface="Calibri" pitchFamily="34" charset="-120"/>
              </a:rPr>
              <a:t>App + Database</a:t>
            </a:r>
            <a:endParaRPr lang="en-US" sz="1100" dirty="0"/>
          </a:p>
        </p:txBody>
      </p:sp>
      <p:sp>
        <p:nvSpPr>
          <p:cNvPr id="9" name="Text 7"/>
          <p:cNvSpPr/>
          <p:nvPr/>
        </p:nvSpPr>
        <p:spPr>
          <a:xfrm>
            <a:off x="5029200" y="3474720"/>
            <a:ext cx="2194560" cy="27432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  Mạng LAN công ty</a:t>
            </a:r>
            <a:endParaRPr lang="en-US" sz="1100" dirty="0"/>
          </a:p>
        </p:txBody>
      </p:sp>
      <p:sp>
        <p:nvSpPr>
          <p:cNvPr id="10" name="Shape 8"/>
          <p:cNvSpPr/>
          <p:nvPr/>
        </p:nvSpPr>
        <p:spPr>
          <a:xfrm>
            <a:off x="1371600" y="4114800"/>
            <a:ext cx="1828800" cy="914400"/>
          </a:xfrm>
          <a:prstGeom prst="roundRect">
            <a:avLst>
              <a:gd name="adj" fmla="val 10000"/>
            </a:avLst>
          </a:prstGeom>
          <a:solidFill>
            <a:srgbClr val="FFFFFF"/>
          </a:solidFill>
          <a:ln w="19050">
            <a:solidFill>
              <a:srgbClr val="0F1E40"/>
            </a:solidFill>
            <a:prstDash val="solid"/>
          </a:ln>
        </p:spPr>
      </p:sp>
      <p:sp>
        <p:nvSpPr>
          <p:cNvPr id="11" name="Text 9"/>
          <p:cNvSpPr/>
          <p:nvPr/>
        </p:nvSpPr>
        <p:spPr>
          <a:xfrm>
            <a:off x="1371600" y="4206240"/>
            <a:ext cx="1828800" cy="320040"/>
          </a:xfrm>
          <a:prstGeom prst="rect">
            <a:avLst/>
          </a:prstGeom>
          <a:noFill/>
          <a:ln/>
        </p:spPr>
        <p:txBody>
          <a:bodyPr wrap="square" rtlCol="0" anchor="ctr"/>
          <a:lstStyle/>
          <a:p>
            <a:pPr algn="ctr" indent="0" marL="0">
              <a:buNone/>
            </a:pPr>
            <a:r>
              <a:rPr lang="en-US" sz="1300" b="1" dirty="0">
                <a:solidFill>
                  <a:srgbClr val="0F1E40"/>
                </a:solidFill>
                <a:latin typeface="Calibri" pitchFamily="34" charset="0"/>
                <a:ea typeface="Calibri" pitchFamily="34" charset="-122"/>
                <a:cs typeface="Calibri" pitchFamily="34" charset="-120"/>
              </a:rPr>
              <a:t>💻  QC 1</a:t>
            </a:r>
            <a:endParaRPr lang="en-US" sz="1300" dirty="0"/>
          </a:p>
        </p:txBody>
      </p:sp>
      <p:sp>
        <p:nvSpPr>
          <p:cNvPr id="12" name="Text 10"/>
          <p:cNvSpPr/>
          <p:nvPr/>
        </p:nvSpPr>
        <p:spPr>
          <a:xfrm>
            <a:off x="1371600" y="4572000"/>
            <a:ext cx="18288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Chrome / Edge</a:t>
            </a:r>
            <a:endParaRPr lang="en-US" sz="1000" dirty="0"/>
          </a:p>
        </p:txBody>
      </p:sp>
      <p:sp>
        <p:nvSpPr>
          <p:cNvPr id="13" name="Shape 11"/>
          <p:cNvSpPr/>
          <p:nvPr/>
        </p:nvSpPr>
        <p:spPr>
          <a:xfrm>
            <a:off x="6126480" y="3337560"/>
            <a:ext cx="-3840480" cy="777240"/>
          </a:xfrm>
          <a:prstGeom prst="line">
            <a:avLst/>
          </a:prstGeom>
          <a:noFill/>
          <a:ln w="12700">
            <a:solidFill>
              <a:srgbClr val="D4A744"/>
            </a:solidFill>
            <a:prstDash val="dash"/>
          </a:ln>
        </p:spPr>
      </p:sp>
      <p:sp>
        <p:nvSpPr>
          <p:cNvPr id="14" name="Shape 12"/>
          <p:cNvSpPr/>
          <p:nvPr/>
        </p:nvSpPr>
        <p:spPr>
          <a:xfrm>
            <a:off x="3657600" y="4114800"/>
            <a:ext cx="1828800" cy="914400"/>
          </a:xfrm>
          <a:prstGeom prst="roundRect">
            <a:avLst>
              <a:gd name="adj" fmla="val 10000"/>
            </a:avLst>
          </a:prstGeom>
          <a:solidFill>
            <a:srgbClr val="FFFFFF"/>
          </a:solidFill>
          <a:ln w="19050">
            <a:solidFill>
              <a:srgbClr val="0F1E40"/>
            </a:solidFill>
            <a:prstDash val="solid"/>
          </a:ln>
        </p:spPr>
      </p:sp>
      <p:sp>
        <p:nvSpPr>
          <p:cNvPr id="15" name="Text 13"/>
          <p:cNvSpPr/>
          <p:nvPr/>
        </p:nvSpPr>
        <p:spPr>
          <a:xfrm>
            <a:off x="3657600" y="4206240"/>
            <a:ext cx="1828800" cy="320040"/>
          </a:xfrm>
          <a:prstGeom prst="rect">
            <a:avLst/>
          </a:prstGeom>
          <a:noFill/>
          <a:ln/>
        </p:spPr>
        <p:txBody>
          <a:bodyPr wrap="square" rtlCol="0" anchor="ctr"/>
          <a:lstStyle/>
          <a:p>
            <a:pPr algn="ctr" indent="0" marL="0">
              <a:buNone/>
            </a:pPr>
            <a:r>
              <a:rPr lang="en-US" sz="1300" b="1" dirty="0">
                <a:solidFill>
                  <a:srgbClr val="0F1E40"/>
                </a:solidFill>
                <a:latin typeface="Calibri" pitchFamily="34" charset="0"/>
                <a:ea typeface="Calibri" pitchFamily="34" charset="-122"/>
                <a:cs typeface="Calibri" pitchFamily="34" charset="-120"/>
              </a:rPr>
              <a:t>💻  QC 2</a:t>
            </a:r>
            <a:endParaRPr lang="en-US" sz="1300" dirty="0"/>
          </a:p>
        </p:txBody>
      </p:sp>
      <p:sp>
        <p:nvSpPr>
          <p:cNvPr id="16" name="Text 14"/>
          <p:cNvSpPr/>
          <p:nvPr/>
        </p:nvSpPr>
        <p:spPr>
          <a:xfrm>
            <a:off x="3657600" y="4572000"/>
            <a:ext cx="18288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Chrome / Edge</a:t>
            </a:r>
            <a:endParaRPr lang="en-US" sz="1000" dirty="0"/>
          </a:p>
        </p:txBody>
      </p:sp>
      <p:sp>
        <p:nvSpPr>
          <p:cNvPr id="17" name="Shape 15"/>
          <p:cNvSpPr/>
          <p:nvPr/>
        </p:nvSpPr>
        <p:spPr>
          <a:xfrm>
            <a:off x="6126480" y="3337560"/>
            <a:ext cx="-1554480" cy="777240"/>
          </a:xfrm>
          <a:prstGeom prst="line">
            <a:avLst/>
          </a:prstGeom>
          <a:noFill/>
          <a:ln w="12700">
            <a:solidFill>
              <a:srgbClr val="D4A744"/>
            </a:solidFill>
            <a:prstDash val="dash"/>
          </a:ln>
        </p:spPr>
      </p:sp>
      <p:sp>
        <p:nvSpPr>
          <p:cNvPr id="18" name="Shape 16"/>
          <p:cNvSpPr/>
          <p:nvPr/>
        </p:nvSpPr>
        <p:spPr>
          <a:xfrm>
            <a:off x="5943600" y="4114800"/>
            <a:ext cx="1828800" cy="914400"/>
          </a:xfrm>
          <a:prstGeom prst="roundRect">
            <a:avLst>
              <a:gd name="adj" fmla="val 10000"/>
            </a:avLst>
          </a:prstGeom>
          <a:solidFill>
            <a:srgbClr val="FFFFFF"/>
          </a:solidFill>
          <a:ln w="19050">
            <a:solidFill>
              <a:srgbClr val="0F1E40"/>
            </a:solidFill>
            <a:prstDash val="solid"/>
          </a:ln>
        </p:spPr>
      </p:sp>
      <p:sp>
        <p:nvSpPr>
          <p:cNvPr id="19" name="Text 17"/>
          <p:cNvSpPr/>
          <p:nvPr/>
        </p:nvSpPr>
        <p:spPr>
          <a:xfrm>
            <a:off x="5943600" y="4206240"/>
            <a:ext cx="1828800" cy="320040"/>
          </a:xfrm>
          <a:prstGeom prst="rect">
            <a:avLst/>
          </a:prstGeom>
          <a:noFill/>
          <a:ln/>
        </p:spPr>
        <p:txBody>
          <a:bodyPr wrap="square" rtlCol="0" anchor="ctr"/>
          <a:lstStyle/>
          <a:p>
            <a:pPr algn="ctr" indent="0" marL="0">
              <a:buNone/>
            </a:pPr>
            <a:r>
              <a:rPr lang="en-US" sz="1300" b="1" dirty="0">
                <a:solidFill>
                  <a:srgbClr val="0F1E40"/>
                </a:solidFill>
                <a:latin typeface="Calibri" pitchFamily="34" charset="0"/>
                <a:ea typeface="Calibri" pitchFamily="34" charset="-122"/>
                <a:cs typeface="Calibri" pitchFamily="34" charset="-120"/>
              </a:rPr>
              <a:t>💻  QC 3</a:t>
            </a:r>
            <a:endParaRPr lang="en-US" sz="1300" dirty="0"/>
          </a:p>
        </p:txBody>
      </p:sp>
      <p:sp>
        <p:nvSpPr>
          <p:cNvPr id="20" name="Text 18"/>
          <p:cNvSpPr/>
          <p:nvPr/>
        </p:nvSpPr>
        <p:spPr>
          <a:xfrm>
            <a:off x="5943600" y="4572000"/>
            <a:ext cx="18288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Chrome / Edge</a:t>
            </a:r>
            <a:endParaRPr lang="en-US" sz="1000" dirty="0"/>
          </a:p>
        </p:txBody>
      </p:sp>
      <p:sp>
        <p:nvSpPr>
          <p:cNvPr id="21" name="Shape 19"/>
          <p:cNvSpPr/>
          <p:nvPr/>
        </p:nvSpPr>
        <p:spPr>
          <a:xfrm>
            <a:off x="6126480" y="3337560"/>
            <a:ext cx="731520" cy="777240"/>
          </a:xfrm>
          <a:prstGeom prst="line">
            <a:avLst/>
          </a:prstGeom>
          <a:noFill/>
          <a:ln w="12700">
            <a:solidFill>
              <a:srgbClr val="D4A744"/>
            </a:solidFill>
            <a:prstDash val="dash"/>
          </a:ln>
        </p:spPr>
      </p:sp>
      <p:sp>
        <p:nvSpPr>
          <p:cNvPr id="22" name="Shape 20"/>
          <p:cNvSpPr/>
          <p:nvPr/>
        </p:nvSpPr>
        <p:spPr>
          <a:xfrm>
            <a:off x="8229600" y="4114800"/>
            <a:ext cx="1828800" cy="914400"/>
          </a:xfrm>
          <a:prstGeom prst="roundRect">
            <a:avLst>
              <a:gd name="adj" fmla="val 10000"/>
            </a:avLst>
          </a:prstGeom>
          <a:solidFill>
            <a:srgbClr val="FFFFFF"/>
          </a:solidFill>
          <a:ln w="19050">
            <a:solidFill>
              <a:srgbClr val="0F1E40"/>
            </a:solidFill>
            <a:prstDash val="solid"/>
          </a:ln>
        </p:spPr>
      </p:sp>
      <p:sp>
        <p:nvSpPr>
          <p:cNvPr id="23" name="Text 21"/>
          <p:cNvSpPr/>
          <p:nvPr/>
        </p:nvSpPr>
        <p:spPr>
          <a:xfrm>
            <a:off x="8229600" y="4206240"/>
            <a:ext cx="1828800" cy="320040"/>
          </a:xfrm>
          <a:prstGeom prst="rect">
            <a:avLst/>
          </a:prstGeom>
          <a:noFill/>
          <a:ln/>
        </p:spPr>
        <p:txBody>
          <a:bodyPr wrap="square" rtlCol="0" anchor="ctr"/>
          <a:lstStyle/>
          <a:p>
            <a:pPr algn="ctr" indent="0" marL="0">
              <a:buNone/>
            </a:pPr>
            <a:r>
              <a:rPr lang="en-US" sz="1300" b="1" dirty="0">
                <a:solidFill>
                  <a:srgbClr val="0F1E40"/>
                </a:solidFill>
                <a:latin typeface="Calibri" pitchFamily="34" charset="0"/>
                <a:ea typeface="Calibri" pitchFamily="34" charset="-122"/>
                <a:cs typeface="Calibri" pitchFamily="34" charset="-120"/>
              </a:rPr>
              <a:t>💻  QC ...</a:t>
            </a:r>
            <a:endParaRPr lang="en-US" sz="1300" dirty="0"/>
          </a:p>
        </p:txBody>
      </p:sp>
      <p:sp>
        <p:nvSpPr>
          <p:cNvPr id="24" name="Text 22"/>
          <p:cNvSpPr/>
          <p:nvPr/>
        </p:nvSpPr>
        <p:spPr>
          <a:xfrm>
            <a:off x="8229600" y="4572000"/>
            <a:ext cx="18288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Chrome / Edge</a:t>
            </a:r>
            <a:endParaRPr lang="en-US" sz="1000" dirty="0"/>
          </a:p>
        </p:txBody>
      </p:sp>
      <p:sp>
        <p:nvSpPr>
          <p:cNvPr id="25" name="Shape 23"/>
          <p:cNvSpPr/>
          <p:nvPr/>
        </p:nvSpPr>
        <p:spPr>
          <a:xfrm>
            <a:off x="6126480" y="3337560"/>
            <a:ext cx="3017520" cy="777240"/>
          </a:xfrm>
          <a:prstGeom prst="line">
            <a:avLst/>
          </a:prstGeom>
          <a:noFill/>
          <a:ln w="12700">
            <a:solidFill>
              <a:srgbClr val="D4A744"/>
            </a:solidFill>
            <a:prstDash val="dash"/>
          </a:ln>
        </p:spPr>
      </p:sp>
      <p:sp>
        <p:nvSpPr>
          <p:cNvPr id="26" name="Shape 24"/>
          <p:cNvSpPr/>
          <p:nvPr/>
        </p:nvSpPr>
        <p:spPr>
          <a:xfrm>
            <a:off x="1371600" y="5486400"/>
            <a:ext cx="9418320" cy="640080"/>
          </a:xfrm>
          <a:prstGeom prst="roundRect">
            <a:avLst>
              <a:gd name="adj" fmla="val 14286"/>
            </a:avLst>
          </a:prstGeom>
          <a:solidFill>
            <a:srgbClr val="FCE7A1"/>
          </a:solidFill>
          <a:ln/>
        </p:spPr>
      </p:sp>
      <p:sp>
        <p:nvSpPr>
          <p:cNvPr id="27" name="Text 25"/>
          <p:cNvSpPr/>
          <p:nvPr/>
        </p:nvSpPr>
        <p:spPr>
          <a:xfrm>
            <a:off x="1371600" y="5486400"/>
            <a:ext cx="9418320" cy="640080"/>
          </a:xfrm>
          <a:prstGeom prst="rect">
            <a:avLst/>
          </a:prstGeom>
          <a:noFill/>
          <a:ln/>
        </p:spPr>
        <p:txBody>
          <a:bodyPr wrap="square" rtlCol="0" anchor="ctr"/>
          <a:lstStyle/>
          <a:p>
            <a:pPr algn="ctr" indent="0" marL="0">
              <a:buNone/>
            </a:pPr>
            <a:r>
              <a:rPr lang="en-US" sz="1300" dirty="0">
                <a:solidFill>
                  <a:srgbClr val="0F1E40"/>
                </a:solidFill>
                <a:latin typeface="Calibri" pitchFamily="34" charset="0"/>
                <a:ea typeface="Calibri" pitchFamily="34" charset="-122"/>
                <a:cs typeface="Calibri" pitchFamily="34" charset="-120"/>
              </a:rPr>
              <a:t>💡  AE QC chỉ cần mở Chrome → gõ địa chỉ http://&lt;IP máy server&gt;:8501 → vào được app. Không cài đặt gì.</a:t>
            </a:r>
            <a:endParaRPr lang="en-US" sz="1300" dirty="0"/>
          </a:p>
        </p:txBody>
      </p:sp>
      <p:sp>
        <p:nvSpPr>
          <p:cNvPr id="28" name="Text 26"/>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4/18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04</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App có gì? — 7 trang chính</a:t>
            </a:r>
            <a:endParaRPr lang="en-US" sz="3200" dirty="0"/>
          </a:p>
        </p:txBody>
      </p:sp>
      <p:sp>
        <p:nvSpPr>
          <p:cNvPr id="4" name="Text 2"/>
          <p:cNvSpPr/>
          <p:nvPr/>
        </p:nvSpPr>
        <p:spPr>
          <a:xfrm>
            <a:off x="457200" y="1417320"/>
            <a:ext cx="109728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Mỗi trang phụ trách một nhiệm vụ cụ thể trong quy trình QC</a:t>
            </a:r>
            <a:endParaRPr lang="en-US" sz="1400" dirty="0"/>
          </a:p>
        </p:txBody>
      </p:sp>
      <p:sp>
        <p:nvSpPr>
          <p:cNvPr id="5" name="Shape 3"/>
          <p:cNvSpPr/>
          <p:nvPr/>
        </p:nvSpPr>
        <p:spPr>
          <a:xfrm>
            <a:off x="457200" y="2103120"/>
            <a:ext cx="3520440" cy="1325880"/>
          </a:xfrm>
          <a:prstGeom prst="roundRect">
            <a:avLst>
              <a:gd name="adj" fmla="val 6897"/>
            </a:avLst>
          </a:prstGeom>
          <a:solidFill>
            <a:srgbClr val="FFFFFF"/>
          </a:solidFill>
          <a:ln w="12700">
            <a:solidFill>
              <a:srgbClr val="E2E8F0"/>
            </a:solidFill>
            <a:prstDash val="solid"/>
          </a:ln>
        </p:spPr>
      </p:sp>
      <p:sp>
        <p:nvSpPr>
          <p:cNvPr id="6" name="Text 4"/>
          <p:cNvSpPr/>
          <p:nvPr/>
        </p:nvSpPr>
        <p:spPr>
          <a:xfrm>
            <a:off x="594360" y="228600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7" name="Text 5"/>
          <p:cNvSpPr/>
          <p:nvPr/>
        </p:nvSpPr>
        <p:spPr>
          <a:xfrm>
            <a:off x="1463040" y="228600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Trang chủ</a:t>
            </a:r>
            <a:endParaRPr lang="en-US" sz="1800" dirty="0"/>
          </a:p>
        </p:txBody>
      </p:sp>
      <p:sp>
        <p:nvSpPr>
          <p:cNvPr id="8" name="Text 6"/>
          <p:cNvSpPr/>
          <p:nvPr/>
        </p:nvSpPr>
        <p:spPr>
          <a:xfrm>
            <a:off x="1463040" y="274320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Landing — chuyển dự án nhanh, KPI rút gọn</a:t>
            </a:r>
            <a:endParaRPr lang="en-US" sz="1200" dirty="0"/>
          </a:p>
        </p:txBody>
      </p:sp>
      <p:sp>
        <p:nvSpPr>
          <p:cNvPr id="9" name="Shape 7"/>
          <p:cNvSpPr/>
          <p:nvPr/>
        </p:nvSpPr>
        <p:spPr>
          <a:xfrm>
            <a:off x="4160520" y="2103120"/>
            <a:ext cx="3520440" cy="1325880"/>
          </a:xfrm>
          <a:prstGeom prst="roundRect">
            <a:avLst>
              <a:gd name="adj" fmla="val 6897"/>
            </a:avLst>
          </a:prstGeom>
          <a:solidFill>
            <a:srgbClr val="FFFFFF"/>
          </a:solidFill>
          <a:ln w="12700">
            <a:solidFill>
              <a:srgbClr val="E2E8F0"/>
            </a:solidFill>
            <a:prstDash val="solid"/>
          </a:ln>
        </p:spPr>
      </p:sp>
      <p:sp>
        <p:nvSpPr>
          <p:cNvPr id="10" name="Text 8"/>
          <p:cNvSpPr/>
          <p:nvPr/>
        </p:nvSpPr>
        <p:spPr>
          <a:xfrm>
            <a:off x="4297680" y="228600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11" name="Text 9"/>
          <p:cNvSpPr/>
          <p:nvPr/>
        </p:nvSpPr>
        <p:spPr>
          <a:xfrm>
            <a:off x="5166360" y="228600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Tổng quan</a:t>
            </a:r>
            <a:endParaRPr lang="en-US" sz="1800" dirty="0"/>
          </a:p>
        </p:txBody>
      </p:sp>
      <p:sp>
        <p:nvSpPr>
          <p:cNvPr id="12" name="Text 10"/>
          <p:cNvSpPr/>
          <p:nvPr/>
        </p:nvSpPr>
        <p:spPr>
          <a:xfrm>
            <a:off x="5166360" y="274320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Dashboard KPI + biểu đồ theo xưởng</a:t>
            </a:r>
            <a:endParaRPr lang="en-US" sz="1200" dirty="0"/>
          </a:p>
        </p:txBody>
      </p:sp>
      <p:sp>
        <p:nvSpPr>
          <p:cNvPr id="13" name="Shape 11"/>
          <p:cNvSpPr/>
          <p:nvPr/>
        </p:nvSpPr>
        <p:spPr>
          <a:xfrm>
            <a:off x="7863840" y="2103120"/>
            <a:ext cx="3520440" cy="1325880"/>
          </a:xfrm>
          <a:prstGeom prst="roundRect">
            <a:avLst>
              <a:gd name="adj" fmla="val 6897"/>
            </a:avLst>
          </a:prstGeom>
          <a:solidFill>
            <a:srgbClr val="FFFFFF"/>
          </a:solidFill>
          <a:ln w="12700">
            <a:solidFill>
              <a:srgbClr val="E2E8F0"/>
            </a:solidFill>
            <a:prstDash val="solid"/>
          </a:ln>
        </p:spPr>
      </p:sp>
      <p:sp>
        <p:nvSpPr>
          <p:cNvPr id="14" name="Text 12"/>
          <p:cNvSpPr/>
          <p:nvPr/>
        </p:nvSpPr>
        <p:spPr>
          <a:xfrm>
            <a:off x="8001000" y="228600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15" name="Text 13"/>
          <p:cNvSpPr/>
          <p:nvPr/>
        </p:nvSpPr>
        <p:spPr>
          <a:xfrm>
            <a:off x="8869680" y="228600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Import Master</a:t>
            </a:r>
            <a:endParaRPr lang="en-US" sz="1800" dirty="0"/>
          </a:p>
        </p:txBody>
      </p:sp>
      <p:sp>
        <p:nvSpPr>
          <p:cNvPr id="16" name="Text 14"/>
          <p:cNvSpPr/>
          <p:nvPr/>
        </p:nvSpPr>
        <p:spPr>
          <a:xfrm>
            <a:off x="8869680" y="274320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Nạp danh sách cấu kiện từ file PKL</a:t>
            </a:r>
            <a:endParaRPr lang="en-US" sz="1200" dirty="0"/>
          </a:p>
        </p:txBody>
      </p:sp>
      <p:sp>
        <p:nvSpPr>
          <p:cNvPr id="17" name="Shape 15"/>
          <p:cNvSpPr/>
          <p:nvPr/>
        </p:nvSpPr>
        <p:spPr>
          <a:xfrm>
            <a:off x="457200" y="3611880"/>
            <a:ext cx="3520440" cy="1325880"/>
          </a:xfrm>
          <a:prstGeom prst="roundRect">
            <a:avLst>
              <a:gd name="adj" fmla="val 6897"/>
            </a:avLst>
          </a:prstGeom>
          <a:solidFill>
            <a:srgbClr val="FFFFFF"/>
          </a:solidFill>
          <a:ln w="12700">
            <a:solidFill>
              <a:srgbClr val="E2E8F0"/>
            </a:solidFill>
            <a:prstDash val="solid"/>
          </a:ln>
        </p:spPr>
      </p:sp>
      <p:sp>
        <p:nvSpPr>
          <p:cNvPr id="18" name="Text 16"/>
          <p:cNvSpPr/>
          <p:nvPr/>
        </p:nvSpPr>
        <p:spPr>
          <a:xfrm>
            <a:off x="594360" y="379476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19" name="Text 17"/>
          <p:cNvSpPr/>
          <p:nvPr/>
        </p:nvSpPr>
        <p:spPr>
          <a:xfrm>
            <a:off x="1463040" y="379476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Import Daily</a:t>
            </a:r>
            <a:endParaRPr lang="en-US" sz="1800" dirty="0"/>
          </a:p>
        </p:txBody>
      </p:sp>
      <p:sp>
        <p:nvSpPr>
          <p:cNvPr id="20" name="Text 18"/>
          <p:cNvSpPr/>
          <p:nvPr/>
        </p:nvSpPr>
        <p:spPr>
          <a:xfrm>
            <a:off x="1463040" y="425196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Nạp file kiểm tra Fit-up / Final hàng ngày</a:t>
            </a:r>
            <a:endParaRPr lang="en-US" sz="1200" dirty="0"/>
          </a:p>
        </p:txBody>
      </p:sp>
      <p:sp>
        <p:nvSpPr>
          <p:cNvPr id="21" name="Shape 19"/>
          <p:cNvSpPr/>
          <p:nvPr/>
        </p:nvSpPr>
        <p:spPr>
          <a:xfrm>
            <a:off x="4160520" y="3611880"/>
            <a:ext cx="3520440" cy="1325880"/>
          </a:xfrm>
          <a:prstGeom prst="roundRect">
            <a:avLst>
              <a:gd name="adj" fmla="val 6897"/>
            </a:avLst>
          </a:prstGeom>
          <a:solidFill>
            <a:srgbClr val="FFFFFF"/>
          </a:solidFill>
          <a:ln w="12700">
            <a:solidFill>
              <a:srgbClr val="E2E8F0"/>
            </a:solidFill>
            <a:prstDash val="solid"/>
          </a:ln>
        </p:spPr>
      </p:sp>
      <p:sp>
        <p:nvSpPr>
          <p:cNvPr id="22" name="Text 20"/>
          <p:cNvSpPr/>
          <p:nvPr/>
        </p:nvSpPr>
        <p:spPr>
          <a:xfrm>
            <a:off x="4297680" y="379476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23" name="Text 21"/>
          <p:cNvSpPr/>
          <p:nvPr/>
        </p:nvSpPr>
        <p:spPr>
          <a:xfrm>
            <a:off x="5166360" y="379476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Cấu kiện</a:t>
            </a:r>
            <a:endParaRPr lang="en-US" sz="1800" dirty="0"/>
          </a:p>
        </p:txBody>
      </p:sp>
      <p:sp>
        <p:nvSpPr>
          <p:cNvPr id="24" name="Text 22"/>
          <p:cNvSpPr/>
          <p:nvPr/>
        </p:nvSpPr>
        <p:spPr>
          <a:xfrm>
            <a:off x="5166360" y="425196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Bảng tra cứu — filter, sort, inline edit</a:t>
            </a:r>
            <a:endParaRPr lang="en-US" sz="1200" dirty="0"/>
          </a:p>
        </p:txBody>
      </p:sp>
      <p:sp>
        <p:nvSpPr>
          <p:cNvPr id="25" name="Shape 23"/>
          <p:cNvSpPr/>
          <p:nvPr/>
        </p:nvSpPr>
        <p:spPr>
          <a:xfrm>
            <a:off x="7863840" y="3611880"/>
            <a:ext cx="3520440" cy="1325880"/>
          </a:xfrm>
          <a:prstGeom prst="roundRect">
            <a:avLst>
              <a:gd name="adj" fmla="val 6897"/>
            </a:avLst>
          </a:prstGeom>
          <a:solidFill>
            <a:srgbClr val="FFFFFF"/>
          </a:solidFill>
          <a:ln w="12700">
            <a:solidFill>
              <a:srgbClr val="E2E8F0"/>
            </a:solidFill>
            <a:prstDash val="solid"/>
          </a:ln>
        </p:spPr>
      </p:sp>
      <p:sp>
        <p:nvSpPr>
          <p:cNvPr id="26" name="Text 24"/>
          <p:cNvSpPr/>
          <p:nvPr/>
        </p:nvSpPr>
        <p:spPr>
          <a:xfrm>
            <a:off x="8001000" y="379476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27" name="Text 25"/>
          <p:cNvSpPr/>
          <p:nvPr/>
        </p:nvSpPr>
        <p:spPr>
          <a:xfrm>
            <a:off x="8869680" y="379476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Báo cáo</a:t>
            </a:r>
            <a:endParaRPr lang="en-US" sz="1800" dirty="0"/>
          </a:p>
        </p:txBody>
      </p:sp>
      <p:sp>
        <p:nvSpPr>
          <p:cNvPr id="28" name="Text 26"/>
          <p:cNvSpPr/>
          <p:nvPr/>
        </p:nvSpPr>
        <p:spPr>
          <a:xfrm>
            <a:off x="8869680" y="425196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Export Excel + biểu đồ tổng hợp</a:t>
            </a:r>
            <a:endParaRPr lang="en-US" sz="1200" dirty="0"/>
          </a:p>
        </p:txBody>
      </p:sp>
      <p:sp>
        <p:nvSpPr>
          <p:cNvPr id="29" name="Shape 27"/>
          <p:cNvSpPr/>
          <p:nvPr/>
        </p:nvSpPr>
        <p:spPr>
          <a:xfrm>
            <a:off x="457200" y="5120640"/>
            <a:ext cx="3520440" cy="1325880"/>
          </a:xfrm>
          <a:prstGeom prst="roundRect">
            <a:avLst>
              <a:gd name="adj" fmla="val 6897"/>
            </a:avLst>
          </a:prstGeom>
          <a:solidFill>
            <a:srgbClr val="FFFFFF"/>
          </a:solidFill>
          <a:ln w="12700">
            <a:solidFill>
              <a:srgbClr val="E2E8F0"/>
            </a:solidFill>
            <a:prstDash val="solid"/>
          </a:ln>
        </p:spPr>
      </p:sp>
      <p:sp>
        <p:nvSpPr>
          <p:cNvPr id="30" name="Text 28"/>
          <p:cNvSpPr/>
          <p:nvPr/>
        </p:nvSpPr>
        <p:spPr>
          <a:xfrm>
            <a:off x="594360" y="5303520"/>
            <a:ext cx="914400" cy="91440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31" name="Text 29"/>
          <p:cNvSpPr/>
          <p:nvPr/>
        </p:nvSpPr>
        <p:spPr>
          <a:xfrm>
            <a:off x="1463040" y="5303520"/>
            <a:ext cx="2423160" cy="457200"/>
          </a:xfrm>
          <a:prstGeom prst="rect">
            <a:avLst/>
          </a:prstGeom>
          <a:noFill/>
          <a:ln/>
        </p:spPr>
        <p:txBody>
          <a:bodyPr wrap="square" rtlCol="0" anchor="ctr"/>
          <a:lstStyle/>
          <a:p>
            <a:pPr indent="0" marL="0">
              <a:buNone/>
            </a:pPr>
            <a:r>
              <a:rPr lang="en-US" sz="1800" b="1" dirty="0">
                <a:solidFill>
                  <a:srgbClr val="0F1E40"/>
                </a:solidFill>
                <a:latin typeface="Calibri" pitchFamily="34" charset="0"/>
                <a:ea typeface="Calibri" pitchFamily="34" charset="-122"/>
                <a:cs typeface="Calibri" pitchFamily="34" charset="-120"/>
              </a:rPr>
              <a:t>Quản trị</a:t>
            </a:r>
            <a:endParaRPr lang="en-US" sz="1800" dirty="0"/>
          </a:p>
        </p:txBody>
      </p:sp>
      <p:sp>
        <p:nvSpPr>
          <p:cNvPr id="32" name="Text 30"/>
          <p:cNvSpPr/>
          <p:nvPr/>
        </p:nvSpPr>
        <p:spPr>
          <a:xfrm>
            <a:off x="1463040" y="5760720"/>
            <a:ext cx="2423160" cy="64008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Backup database, audit log, người dùng</a:t>
            </a:r>
            <a:endParaRPr lang="en-US" sz="1200" dirty="0"/>
          </a:p>
        </p:txBody>
      </p:sp>
      <p:sp>
        <p:nvSpPr>
          <p:cNvPr id="33" name="Text 31"/>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5/18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800" b="1" dirty="0">
                <a:solidFill>
                  <a:srgbClr val="0F1E40"/>
                </a:solidFill>
                <a:latin typeface="Calibri" pitchFamily="34" charset="0"/>
                <a:ea typeface="Calibri" pitchFamily="34" charset="-122"/>
                <a:cs typeface="Calibri" pitchFamily="34" charset="-120"/>
              </a:rPr>
              <a:t>Trang chủ — Landing page</a:t>
            </a:r>
            <a:endParaRPr lang="en-US" sz="2800" dirty="0"/>
          </a:p>
        </p:txBody>
      </p:sp>
      <p:sp>
        <p:nvSpPr>
          <p:cNvPr id="3" name="Text 1"/>
          <p:cNvSpPr/>
          <p:nvPr/>
        </p:nvSpPr>
        <p:spPr>
          <a:xfrm>
            <a:off x="457200" y="914400"/>
            <a:ext cx="109728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Vào app thấy ngay tình trạng dự án — chuyển dự án nhanh, KPI rút gọn</a:t>
            </a:r>
            <a:endParaRPr lang="en-US" sz="1300" dirty="0"/>
          </a:p>
        </p:txBody>
      </p:sp>
      <p:sp>
        <p:nvSpPr>
          <p:cNvPr id="4" name="Shape 2"/>
          <p:cNvSpPr/>
          <p:nvPr/>
        </p:nvSpPr>
        <p:spPr>
          <a:xfrm>
            <a:off x="457200" y="1463040"/>
            <a:ext cx="7772400" cy="4754880"/>
          </a:xfrm>
          <a:prstGeom prst="rect">
            <a:avLst>
              <a:gd name="adj" fmla="val 1538"/>
            </a:avLst>
          </a:prstGeom>
          <a:solidFill>
            <a:srgbClr val="EFF1F5"/>
          </a:solidFill>
          <a:ln w="12700">
            <a:solidFill>
              <a:srgbClr val="CBD5E1"/>
            </a:solidFill>
            <a:prstDash val="dash"/>
          </a:ln>
        </p:spPr>
      </p:sp>
      <p:sp>
        <p:nvSpPr>
          <p:cNvPr id="5" name="Text 3"/>
          <p:cNvSpPr/>
          <p:nvPr/>
        </p:nvSpPr>
        <p:spPr>
          <a:xfrm>
            <a:off x="457200" y="1463040"/>
            <a:ext cx="7772400" cy="475488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01_trang_chu.png — Trang chủ với 4 KPI + Điều hướng nhanh]</a:t>
            </a:r>
            <a:endParaRPr lang="en-US" sz="2400" dirty="0"/>
          </a:p>
        </p:txBody>
      </p:sp>
      <p:sp>
        <p:nvSpPr>
          <p:cNvPr id="6" name="Shape 4"/>
          <p:cNvSpPr/>
          <p:nvPr/>
        </p:nvSpPr>
        <p:spPr>
          <a:xfrm>
            <a:off x="8503920" y="1645920"/>
            <a:ext cx="3291840" cy="1188720"/>
          </a:xfrm>
          <a:prstGeom prst="roundRect">
            <a:avLst>
              <a:gd name="adj" fmla="val 6154"/>
            </a:avLst>
          </a:prstGeom>
          <a:solidFill>
            <a:srgbClr val="FFFFFF"/>
          </a:solidFill>
          <a:ln w="25400">
            <a:solidFill>
              <a:srgbClr val="D4A744"/>
            </a:solidFill>
            <a:prstDash val="solid"/>
          </a:ln>
        </p:spPr>
      </p:sp>
      <p:sp>
        <p:nvSpPr>
          <p:cNvPr id="7" name="Text 5"/>
          <p:cNvSpPr/>
          <p:nvPr/>
        </p:nvSpPr>
        <p:spPr>
          <a:xfrm>
            <a:off x="8686800" y="1783080"/>
            <a:ext cx="3017520" cy="365760"/>
          </a:xfrm>
          <a:prstGeom prst="rect">
            <a:avLst/>
          </a:prstGeom>
          <a:noFill/>
          <a:ln/>
        </p:spPr>
        <p:txBody>
          <a:bodyPr wrap="square" rtlCol="0" anchor="ctr"/>
          <a:lstStyle/>
          <a:p>
            <a:pPr indent="0" marL="0">
              <a:buNone/>
            </a:pPr>
            <a:r>
              <a:rPr lang="en-US" sz="1400" b="1" dirty="0">
                <a:solidFill>
                  <a:srgbClr val="0F1E40"/>
                </a:solidFill>
                <a:latin typeface="Calibri" pitchFamily="34" charset="0"/>
                <a:ea typeface="Calibri" pitchFamily="34" charset="-122"/>
                <a:cs typeface="Calibri" pitchFamily="34" charset="-120"/>
              </a:rPr>
              <a:t>✓ Top nav 7 trang</a:t>
            </a:r>
            <a:endParaRPr lang="en-US" sz="1400" dirty="0"/>
          </a:p>
        </p:txBody>
      </p:sp>
      <p:sp>
        <p:nvSpPr>
          <p:cNvPr id="8" name="Text 6"/>
          <p:cNvSpPr/>
          <p:nvPr/>
        </p:nvSpPr>
        <p:spPr>
          <a:xfrm>
            <a:off x="8686800" y="2148840"/>
            <a:ext cx="3017520" cy="6400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Click nav bar trên cùng để chuyển page</a:t>
            </a:r>
            <a:endParaRPr lang="en-US" sz="1100" dirty="0"/>
          </a:p>
        </p:txBody>
      </p:sp>
      <p:sp>
        <p:nvSpPr>
          <p:cNvPr id="9" name="Shape 7"/>
          <p:cNvSpPr/>
          <p:nvPr/>
        </p:nvSpPr>
        <p:spPr>
          <a:xfrm>
            <a:off x="8503920" y="3017520"/>
            <a:ext cx="3291840" cy="1188720"/>
          </a:xfrm>
          <a:prstGeom prst="roundRect">
            <a:avLst>
              <a:gd name="adj" fmla="val 6154"/>
            </a:avLst>
          </a:prstGeom>
          <a:solidFill>
            <a:srgbClr val="FFFFFF"/>
          </a:solidFill>
          <a:ln w="25400">
            <a:solidFill>
              <a:srgbClr val="D4A744"/>
            </a:solidFill>
            <a:prstDash val="solid"/>
          </a:ln>
        </p:spPr>
      </p:sp>
      <p:sp>
        <p:nvSpPr>
          <p:cNvPr id="10" name="Text 8"/>
          <p:cNvSpPr/>
          <p:nvPr/>
        </p:nvSpPr>
        <p:spPr>
          <a:xfrm>
            <a:off x="8686800" y="3154680"/>
            <a:ext cx="3017520" cy="365760"/>
          </a:xfrm>
          <a:prstGeom prst="rect">
            <a:avLst/>
          </a:prstGeom>
          <a:noFill/>
          <a:ln/>
        </p:spPr>
        <p:txBody>
          <a:bodyPr wrap="square" rtlCol="0" anchor="ctr"/>
          <a:lstStyle/>
          <a:p>
            <a:pPr indent="0" marL="0">
              <a:buNone/>
            </a:pPr>
            <a:r>
              <a:rPr lang="en-US" sz="1400" b="1" dirty="0">
                <a:solidFill>
                  <a:srgbClr val="0F1E40"/>
                </a:solidFill>
                <a:latin typeface="Calibri" pitchFamily="34" charset="0"/>
                <a:ea typeface="Calibri" pitchFamily="34" charset="-122"/>
                <a:cs typeface="Calibri" pitchFamily="34" charset="-120"/>
              </a:rPr>
              <a:t>✓ Đổi dự án nhanh</a:t>
            </a:r>
            <a:endParaRPr lang="en-US" sz="1400" dirty="0"/>
          </a:p>
        </p:txBody>
      </p:sp>
      <p:sp>
        <p:nvSpPr>
          <p:cNvPr id="11" name="Text 9"/>
          <p:cNvSpPr/>
          <p:nvPr/>
        </p:nvSpPr>
        <p:spPr>
          <a:xfrm>
            <a:off x="8686800" y="3520440"/>
            <a:ext cx="3017520" cy="6400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Dropdown bên phải — không cần thoát app</a:t>
            </a:r>
            <a:endParaRPr lang="en-US" sz="1100" dirty="0"/>
          </a:p>
        </p:txBody>
      </p:sp>
      <p:sp>
        <p:nvSpPr>
          <p:cNvPr id="12" name="Shape 10"/>
          <p:cNvSpPr/>
          <p:nvPr/>
        </p:nvSpPr>
        <p:spPr>
          <a:xfrm>
            <a:off x="8503920" y="4389120"/>
            <a:ext cx="3291840" cy="1188720"/>
          </a:xfrm>
          <a:prstGeom prst="roundRect">
            <a:avLst>
              <a:gd name="adj" fmla="val 6154"/>
            </a:avLst>
          </a:prstGeom>
          <a:solidFill>
            <a:srgbClr val="FFFFFF"/>
          </a:solidFill>
          <a:ln w="25400">
            <a:solidFill>
              <a:srgbClr val="D4A744"/>
            </a:solidFill>
            <a:prstDash val="solid"/>
          </a:ln>
        </p:spPr>
      </p:sp>
      <p:sp>
        <p:nvSpPr>
          <p:cNvPr id="13" name="Text 11"/>
          <p:cNvSpPr/>
          <p:nvPr/>
        </p:nvSpPr>
        <p:spPr>
          <a:xfrm>
            <a:off x="8686800" y="4526280"/>
            <a:ext cx="3017520" cy="365760"/>
          </a:xfrm>
          <a:prstGeom prst="rect">
            <a:avLst/>
          </a:prstGeom>
          <a:noFill/>
          <a:ln/>
        </p:spPr>
        <p:txBody>
          <a:bodyPr wrap="square" rtlCol="0" anchor="ctr"/>
          <a:lstStyle/>
          <a:p>
            <a:pPr indent="0" marL="0">
              <a:buNone/>
            </a:pPr>
            <a:r>
              <a:rPr lang="en-US" sz="1400" b="1" dirty="0">
                <a:solidFill>
                  <a:srgbClr val="0F1E40"/>
                </a:solidFill>
                <a:latin typeface="Calibri" pitchFamily="34" charset="0"/>
                <a:ea typeface="Calibri" pitchFamily="34" charset="-122"/>
                <a:cs typeface="Calibri" pitchFamily="34" charset="-120"/>
              </a:rPr>
              <a:t>✓ Điều hướng nhanh</a:t>
            </a:r>
            <a:endParaRPr lang="en-US" sz="1400" dirty="0"/>
          </a:p>
        </p:txBody>
      </p:sp>
      <p:sp>
        <p:nvSpPr>
          <p:cNvPr id="14" name="Text 12"/>
          <p:cNvSpPr/>
          <p:nvPr/>
        </p:nvSpPr>
        <p:spPr>
          <a:xfrm>
            <a:off x="8686800" y="4892040"/>
            <a:ext cx="3017520" cy="6400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6 ô vuông phía dưới — vào trang con bằng 1 click</a:t>
            </a:r>
            <a:endParaRPr lang="en-US" sz="1100" dirty="0"/>
          </a:p>
        </p:txBody>
      </p:sp>
      <p:sp>
        <p:nvSpPr>
          <p:cNvPr id="15" name="Text 1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6/18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800" b="1" dirty="0">
                <a:solidFill>
                  <a:srgbClr val="0F1E40"/>
                </a:solidFill>
                <a:latin typeface="Calibri" pitchFamily="34" charset="0"/>
                <a:ea typeface="Calibri" pitchFamily="34" charset="-122"/>
                <a:cs typeface="Calibri" pitchFamily="34" charset="-120"/>
              </a:rPr>
              <a:t>Tổng quan — Dashboard KPI</a:t>
            </a:r>
            <a:endParaRPr lang="en-US" sz="2800" dirty="0"/>
          </a:p>
        </p:txBody>
      </p:sp>
      <p:sp>
        <p:nvSpPr>
          <p:cNvPr id="3" name="Text 1"/>
          <p:cNvSpPr/>
          <p:nvPr/>
        </p:nvSpPr>
        <p:spPr>
          <a:xfrm>
            <a:off x="457200" y="914400"/>
            <a:ext cx="109728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4 chỉ số chính + biểu đồ tỉ lệ + thống kê theo xưởng</a:t>
            </a:r>
            <a:endParaRPr lang="en-US" sz="1300" dirty="0"/>
          </a:p>
        </p:txBody>
      </p:sp>
      <p:sp>
        <p:nvSpPr>
          <p:cNvPr id="4" name="Shape 2"/>
          <p:cNvSpPr/>
          <p:nvPr/>
        </p:nvSpPr>
        <p:spPr>
          <a:xfrm>
            <a:off x="457200" y="1463040"/>
            <a:ext cx="11247120" cy="4754880"/>
          </a:xfrm>
          <a:prstGeom prst="rect">
            <a:avLst>
              <a:gd name="adj" fmla="val 1538"/>
            </a:avLst>
          </a:prstGeom>
          <a:solidFill>
            <a:srgbClr val="EFF1F5"/>
          </a:solidFill>
          <a:ln w="12700">
            <a:solidFill>
              <a:srgbClr val="CBD5E1"/>
            </a:solidFill>
            <a:prstDash val="dash"/>
          </a:ln>
        </p:spPr>
      </p:sp>
      <p:sp>
        <p:nvSpPr>
          <p:cNvPr id="5" name="Text 3"/>
          <p:cNvSpPr/>
          <p:nvPr/>
        </p:nvSpPr>
        <p:spPr>
          <a:xfrm>
            <a:off x="457200" y="1463040"/>
            <a:ext cx="11247120" cy="475488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02_tong_quan.png — KPI + Pie + Bar chart]</a:t>
            </a:r>
            <a:endParaRPr lang="en-US" sz="2400" dirty="0"/>
          </a:p>
        </p:txBody>
      </p:sp>
      <p:sp>
        <p:nvSpPr>
          <p:cNvPr id="6" name="Text 4"/>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7/18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05</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Quy trình làm việc — 3 bước</a:t>
            </a:r>
            <a:endParaRPr lang="en-US" sz="3200" dirty="0"/>
          </a:p>
        </p:txBody>
      </p:sp>
      <p:sp>
        <p:nvSpPr>
          <p:cNvPr id="4" name="Text 2"/>
          <p:cNvSpPr/>
          <p:nvPr/>
        </p:nvSpPr>
        <p:spPr>
          <a:xfrm>
            <a:off x="457200" y="1417320"/>
            <a:ext cx="109728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Một dự án mới — chỉ 3 bước để chạy app</a:t>
            </a:r>
            <a:endParaRPr lang="en-US" sz="1400" dirty="0"/>
          </a:p>
        </p:txBody>
      </p:sp>
      <p:sp>
        <p:nvSpPr>
          <p:cNvPr id="5" name="Shape 3"/>
          <p:cNvSpPr/>
          <p:nvPr/>
        </p:nvSpPr>
        <p:spPr>
          <a:xfrm>
            <a:off x="457200" y="2103120"/>
            <a:ext cx="3657600" cy="3657600"/>
          </a:xfrm>
          <a:prstGeom prst="roundRect">
            <a:avLst>
              <a:gd name="adj" fmla="val 3750"/>
            </a:avLst>
          </a:prstGeom>
          <a:solidFill>
            <a:srgbClr val="FFFFFF"/>
          </a:solidFill>
          <a:ln w="12700">
            <a:solidFill>
              <a:srgbClr val="0F1E40"/>
            </a:solidFill>
            <a:prstDash val="solid"/>
          </a:ln>
        </p:spPr>
      </p:sp>
      <p:sp>
        <p:nvSpPr>
          <p:cNvPr id="6" name="Shape 4"/>
          <p:cNvSpPr/>
          <p:nvPr/>
        </p:nvSpPr>
        <p:spPr>
          <a:xfrm>
            <a:off x="1737360" y="2377440"/>
            <a:ext cx="1097280" cy="1097280"/>
          </a:xfrm>
          <a:prstGeom prst="ellipse">
            <a:avLst/>
          </a:prstGeom>
          <a:solidFill>
            <a:srgbClr val="0F1E40"/>
          </a:solidFill>
          <a:ln/>
        </p:spPr>
      </p:sp>
      <p:sp>
        <p:nvSpPr>
          <p:cNvPr id="7" name="Text 5"/>
          <p:cNvSpPr/>
          <p:nvPr/>
        </p:nvSpPr>
        <p:spPr>
          <a:xfrm>
            <a:off x="1737360" y="2377440"/>
            <a:ext cx="1097280" cy="1097280"/>
          </a:xfrm>
          <a:prstGeom prst="rect">
            <a:avLst/>
          </a:prstGeom>
          <a:noFill/>
          <a:ln/>
        </p:spPr>
        <p:txBody>
          <a:bodyPr wrap="square" rtlCol="0" anchor="ctr"/>
          <a:lstStyle/>
          <a:p>
            <a:pPr algn="ctr" indent="0" marL="0">
              <a:buNone/>
            </a:pPr>
            <a:r>
              <a:rPr lang="en-US" sz="4400" b="1" dirty="0">
                <a:solidFill>
                  <a:srgbClr val="D4A744"/>
                </a:solidFill>
                <a:latin typeface="Calibri" pitchFamily="34" charset="0"/>
                <a:ea typeface="Calibri" pitchFamily="34" charset="-122"/>
                <a:cs typeface="Calibri" pitchFamily="34" charset="-120"/>
              </a:rPr>
              <a:t>1</a:t>
            </a:r>
            <a:endParaRPr lang="en-US" sz="4400" dirty="0"/>
          </a:p>
        </p:txBody>
      </p:sp>
      <p:sp>
        <p:nvSpPr>
          <p:cNvPr id="8" name="Text 6"/>
          <p:cNvSpPr/>
          <p:nvPr/>
        </p:nvSpPr>
        <p:spPr>
          <a:xfrm>
            <a:off x="457200" y="3657600"/>
            <a:ext cx="3657600" cy="457200"/>
          </a:xfrm>
          <a:prstGeom prst="rect">
            <a:avLst/>
          </a:prstGeom>
          <a:noFill/>
          <a:ln/>
        </p:spPr>
        <p:txBody>
          <a:bodyPr wrap="square" rtlCol="0" anchor="ctr"/>
          <a:lstStyle/>
          <a:p>
            <a:pPr algn="ctr" indent="0" marL="0">
              <a:buNone/>
            </a:pPr>
            <a:r>
              <a:rPr lang="en-US" sz="2200" b="1" dirty="0">
                <a:solidFill>
                  <a:srgbClr val="0F1E40"/>
                </a:solidFill>
                <a:latin typeface="Calibri" pitchFamily="34" charset="0"/>
                <a:ea typeface="Calibri" pitchFamily="34" charset="-122"/>
                <a:cs typeface="Calibri" pitchFamily="34" charset="-120"/>
              </a:rPr>
              <a:t>Import Master</a:t>
            </a:r>
            <a:endParaRPr lang="en-US" sz="2200" dirty="0"/>
          </a:p>
        </p:txBody>
      </p:sp>
      <p:sp>
        <p:nvSpPr>
          <p:cNvPr id="9" name="Shape 7"/>
          <p:cNvSpPr/>
          <p:nvPr/>
        </p:nvSpPr>
        <p:spPr>
          <a:xfrm>
            <a:off x="1005840" y="4206240"/>
            <a:ext cx="2560320" cy="320040"/>
          </a:xfrm>
          <a:prstGeom prst="roundRect">
            <a:avLst>
              <a:gd name="adj" fmla="val 14286"/>
            </a:avLst>
          </a:prstGeom>
          <a:solidFill>
            <a:srgbClr val="FCE7A1"/>
          </a:solidFill>
          <a:ln/>
        </p:spPr>
      </p:sp>
      <p:sp>
        <p:nvSpPr>
          <p:cNvPr id="10" name="Text 8"/>
          <p:cNvSpPr/>
          <p:nvPr/>
        </p:nvSpPr>
        <p:spPr>
          <a:xfrm>
            <a:off x="1005840" y="4206240"/>
            <a:ext cx="2560320" cy="320040"/>
          </a:xfrm>
          <a:prstGeom prst="rect">
            <a:avLst/>
          </a:prstGeom>
          <a:noFill/>
          <a:ln/>
        </p:spPr>
        <p:txBody>
          <a:bodyPr wrap="square" rtlCol="0" anchor="ctr"/>
          <a:lstStyle/>
          <a:p>
            <a:pPr algn="ctr" indent="0" marL="0">
              <a:buNone/>
            </a:pPr>
            <a:r>
              <a:rPr lang="en-US" sz="1100" b="1" dirty="0">
                <a:solidFill>
                  <a:srgbClr val="0F1E40"/>
                </a:solidFill>
                <a:latin typeface="Calibri" pitchFamily="34" charset="0"/>
                <a:ea typeface="Calibri" pitchFamily="34" charset="-122"/>
                <a:cs typeface="Calibri" pitchFamily="34" charset="-120"/>
              </a:rPr>
              <a:t>1 lần / dự án</a:t>
            </a:r>
            <a:endParaRPr lang="en-US" sz="1100" dirty="0"/>
          </a:p>
        </p:txBody>
      </p:sp>
      <p:sp>
        <p:nvSpPr>
          <p:cNvPr id="11" name="Text 9"/>
          <p:cNvSpPr/>
          <p:nvPr/>
        </p:nvSpPr>
        <p:spPr>
          <a:xfrm>
            <a:off x="731520" y="4663440"/>
            <a:ext cx="3108960" cy="1005840"/>
          </a:xfrm>
          <a:prstGeom prst="rect">
            <a:avLst/>
          </a:prstGeom>
          <a:noFill/>
          <a:ln/>
        </p:spPr>
        <p:txBody>
          <a:bodyPr wrap="square" rtlCol="0" anchor="t"/>
          <a:lstStyle/>
          <a:p>
            <a:pPr algn="ctr" indent="0" marL="0">
              <a:buNone/>
            </a:pPr>
            <a:r>
              <a:rPr lang="en-US" sz="1300" dirty="0">
                <a:solidFill>
                  <a:srgbClr val="1E293B"/>
                </a:solidFill>
                <a:latin typeface="Calibri" pitchFamily="34" charset="0"/>
                <a:ea typeface="Calibri" pitchFamily="34" charset="-122"/>
                <a:cs typeface="Calibri" pitchFamily="34" charset="-120"/>
              </a:rPr>
              <a:t>Nạp danh sách cấu kiện từ file PKL của BPM. App tự phát hiện cột.</a:t>
            </a:r>
            <a:endParaRPr lang="en-US" sz="1300" dirty="0"/>
          </a:p>
        </p:txBody>
      </p:sp>
      <p:sp>
        <p:nvSpPr>
          <p:cNvPr id="12" name="Text 10"/>
          <p:cNvSpPr/>
          <p:nvPr/>
        </p:nvSpPr>
        <p:spPr>
          <a:xfrm>
            <a:off x="4160520" y="3657600"/>
            <a:ext cx="274320" cy="457200"/>
          </a:xfrm>
          <a:prstGeom prst="rect">
            <a:avLst/>
          </a:prstGeom>
          <a:noFill/>
          <a:ln/>
        </p:spPr>
        <p:txBody>
          <a:bodyPr wrap="square" rtlCol="0" anchor="ctr"/>
          <a:lstStyle/>
          <a:p>
            <a:pPr indent="0" marL="0">
              <a:buNone/>
            </a:pPr>
            <a:r>
              <a:rPr lang="en-US" sz="2800" b="1" dirty="0">
                <a:solidFill>
                  <a:srgbClr val="D4A744"/>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4480560" y="2103120"/>
            <a:ext cx="3657600" cy="3657600"/>
          </a:xfrm>
          <a:prstGeom prst="roundRect">
            <a:avLst>
              <a:gd name="adj" fmla="val 3750"/>
            </a:avLst>
          </a:prstGeom>
          <a:solidFill>
            <a:srgbClr val="FFFFFF"/>
          </a:solidFill>
          <a:ln w="12700">
            <a:solidFill>
              <a:srgbClr val="0F1E40"/>
            </a:solidFill>
            <a:prstDash val="solid"/>
          </a:ln>
        </p:spPr>
      </p:sp>
      <p:sp>
        <p:nvSpPr>
          <p:cNvPr id="14" name="Shape 12"/>
          <p:cNvSpPr/>
          <p:nvPr/>
        </p:nvSpPr>
        <p:spPr>
          <a:xfrm>
            <a:off x="5760720" y="2377440"/>
            <a:ext cx="1097280" cy="1097280"/>
          </a:xfrm>
          <a:prstGeom prst="ellipse">
            <a:avLst/>
          </a:prstGeom>
          <a:solidFill>
            <a:srgbClr val="0F1E40"/>
          </a:solidFill>
          <a:ln/>
        </p:spPr>
      </p:sp>
      <p:sp>
        <p:nvSpPr>
          <p:cNvPr id="15" name="Text 13"/>
          <p:cNvSpPr/>
          <p:nvPr/>
        </p:nvSpPr>
        <p:spPr>
          <a:xfrm>
            <a:off x="5760720" y="2377440"/>
            <a:ext cx="1097280" cy="1097280"/>
          </a:xfrm>
          <a:prstGeom prst="rect">
            <a:avLst/>
          </a:prstGeom>
          <a:noFill/>
          <a:ln/>
        </p:spPr>
        <p:txBody>
          <a:bodyPr wrap="square" rtlCol="0" anchor="ctr"/>
          <a:lstStyle/>
          <a:p>
            <a:pPr algn="ctr" indent="0" marL="0">
              <a:buNone/>
            </a:pPr>
            <a:r>
              <a:rPr lang="en-US" sz="4400" b="1" dirty="0">
                <a:solidFill>
                  <a:srgbClr val="D4A744"/>
                </a:solidFill>
                <a:latin typeface="Calibri" pitchFamily="34" charset="0"/>
                <a:ea typeface="Calibri" pitchFamily="34" charset="-122"/>
                <a:cs typeface="Calibri" pitchFamily="34" charset="-120"/>
              </a:rPr>
              <a:t>2</a:t>
            </a:r>
            <a:endParaRPr lang="en-US" sz="4400" dirty="0"/>
          </a:p>
        </p:txBody>
      </p:sp>
      <p:sp>
        <p:nvSpPr>
          <p:cNvPr id="16" name="Text 14"/>
          <p:cNvSpPr/>
          <p:nvPr/>
        </p:nvSpPr>
        <p:spPr>
          <a:xfrm>
            <a:off x="4480560" y="3657600"/>
            <a:ext cx="3657600" cy="457200"/>
          </a:xfrm>
          <a:prstGeom prst="rect">
            <a:avLst/>
          </a:prstGeom>
          <a:noFill/>
          <a:ln/>
        </p:spPr>
        <p:txBody>
          <a:bodyPr wrap="square" rtlCol="0" anchor="ctr"/>
          <a:lstStyle/>
          <a:p>
            <a:pPr algn="ctr" indent="0" marL="0">
              <a:buNone/>
            </a:pPr>
            <a:r>
              <a:rPr lang="en-US" sz="2200" b="1" dirty="0">
                <a:solidFill>
                  <a:srgbClr val="0F1E40"/>
                </a:solidFill>
                <a:latin typeface="Calibri" pitchFamily="34" charset="0"/>
                <a:ea typeface="Calibri" pitchFamily="34" charset="-122"/>
                <a:cs typeface="Calibri" pitchFamily="34" charset="-120"/>
              </a:rPr>
              <a:t>Import Daily</a:t>
            </a:r>
            <a:endParaRPr lang="en-US" sz="2200" dirty="0"/>
          </a:p>
        </p:txBody>
      </p:sp>
      <p:sp>
        <p:nvSpPr>
          <p:cNvPr id="17" name="Shape 15"/>
          <p:cNvSpPr/>
          <p:nvPr/>
        </p:nvSpPr>
        <p:spPr>
          <a:xfrm>
            <a:off x="5029200" y="4206240"/>
            <a:ext cx="2560320" cy="320040"/>
          </a:xfrm>
          <a:prstGeom prst="roundRect">
            <a:avLst>
              <a:gd name="adj" fmla="val 14286"/>
            </a:avLst>
          </a:prstGeom>
          <a:solidFill>
            <a:srgbClr val="FCE7A1"/>
          </a:solidFill>
          <a:ln/>
        </p:spPr>
      </p:sp>
      <p:sp>
        <p:nvSpPr>
          <p:cNvPr id="18" name="Text 16"/>
          <p:cNvSpPr/>
          <p:nvPr/>
        </p:nvSpPr>
        <p:spPr>
          <a:xfrm>
            <a:off x="5029200" y="4206240"/>
            <a:ext cx="2560320" cy="320040"/>
          </a:xfrm>
          <a:prstGeom prst="rect">
            <a:avLst/>
          </a:prstGeom>
          <a:noFill/>
          <a:ln/>
        </p:spPr>
        <p:txBody>
          <a:bodyPr wrap="square" rtlCol="0" anchor="ctr"/>
          <a:lstStyle/>
          <a:p>
            <a:pPr algn="ctr" indent="0" marL="0">
              <a:buNone/>
            </a:pPr>
            <a:r>
              <a:rPr lang="en-US" sz="1100" b="1" dirty="0">
                <a:solidFill>
                  <a:srgbClr val="0F1E40"/>
                </a:solidFill>
                <a:latin typeface="Calibri" pitchFamily="34" charset="0"/>
                <a:ea typeface="Calibri" pitchFamily="34" charset="-122"/>
                <a:cs typeface="Calibri" pitchFamily="34" charset="-120"/>
              </a:rPr>
              <a:t>Hàng ngày</a:t>
            </a:r>
            <a:endParaRPr lang="en-US" sz="1100" dirty="0"/>
          </a:p>
        </p:txBody>
      </p:sp>
      <p:sp>
        <p:nvSpPr>
          <p:cNvPr id="19" name="Text 17"/>
          <p:cNvSpPr/>
          <p:nvPr/>
        </p:nvSpPr>
        <p:spPr>
          <a:xfrm>
            <a:off x="4754880" y="4663440"/>
            <a:ext cx="3108960" cy="1005840"/>
          </a:xfrm>
          <a:prstGeom prst="rect">
            <a:avLst/>
          </a:prstGeom>
          <a:noFill/>
          <a:ln/>
        </p:spPr>
        <p:txBody>
          <a:bodyPr wrap="square" rtlCol="0" anchor="t"/>
          <a:lstStyle/>
          <a:p>
            <a:pPr algn="ctr" indent="0" marL="0">
              <a:buNone/>
            </a:pPr>
            <a:r>
              <a:rPr lang="en-US" sz="1300" dirty="0">
                <a:solidFill>
                  <a:srgbClr val="1E293B"/>
                </a:solidFill>
                <a:latin typeface="Calibri" pitchFamily="34" charset="0"/>
                <a:ea typeface="Calibri" pitchFamily="34" charset="-122"/>
                <a:cs typeface="Calibri" pitchFamily="34" charset="-120"/>
              </a:rPr>
              <a:t>Mỗi khi có file Fit-up hoặc Final mới ký → upload. App tự khớp.</a:t>
            </a:r>
            <a:endParaRPr lang="en-US" sz="1300" dirty="0"/>
          </a:p>
        </p:txBody>
      </p:sp>
      <p:sp>
        <p:nvSpPr>
          <p:cNvPr id="20" name="Text 18"/>
          <p:cNvSpPr/>
          <p:nvPr/>
        </p:nvSpPr>
        <p:spPr>
          <a:xfrm>
            <a:off x="8183880" y="3657600"/>
            <a:ext cx="274320" cy="457200"/>
          </a:xfrm>
          <a:prstGeom prst="rect">
            <a:avLst/>
          </a:prstGeom>
          <a:noFill/>
          <a:ln/>
        </p:spPr>
        <p:txBody>
          <a:bodyPr wrap="square" rtlCol="0" anchor="ctr"/>
          <a:lstStyle/>
          <a:p>
            <a:pPr indent="0" marL="0">
              <a:buNone/>
            </a:pPr>
            <a:r>
              <a:rPr lang="en-US" sz="2800" b="1" dirty="0">
                <a:solidFill>
                  <a:srgbClr val="D4A744"/>
                </a:solidFill>
                <a:latin typeface="Calibri" pitchFamily="34" charset="0"/>
                <a:ea typeface="Calibri" pitchFamily="34" charset="-122"/>
                <a:cs typeface="Calibri" pitchFamily="34" charset="-120"/>
              </a:rPr>
              <a:t>→</a:t>
            </a:r>
            <a:endParaRPr lang="en-US" sz="2800" dirty="0"/>
          </a:p>
        </p:txBody>
      </p:sp>
      <p:sp>
        <p:nvSpPr>
          <p:cNvPr id="21" name="Shape 19"/>
          <p:cNvSpPr/>
          <p:nvPr/>
        </p:nvSpPr>
        <p:spPr>
          <a:xfrm>
            <a:off x="8503920" y="2103120"/>
            <a:ext cx="3657600" cy="3657600"/>
          </a:xfrm>
          <a:prstGeom prst="roundRect">
            <a:avLst>
              <a:gd name="adj" fmla="val 3750"/>
            </a:avLst>
          </a:prstGeom>
          <a:solidFill>
            <a:srgbClr val="FFFFFF"/>
          </a:solidFill>
          <a:ln w="12700">
            <a:solidFill>
              <a:srgbClr val="0F1E40"/>
            </a:solidFill>
            <a:prstDash val="solid"/>
          </a:ln>
        </p:spPr>
      </p:sp>
      <p:sp>
        <p:nvSpPr>
          <p:cNvPr id="22" name="Shape 20"/>
          <p:cNvSpPr/>
          <p:nvPr/>
        </p:nvSpPr>
        <p:spPr>
          <a:xfrm>
            <a:off x="9784080" y="2377440"/>
            <a:ext cx="1097280" cy="1097280"/>
          </a:xfrm>
          <a:prstGeom prst="ellipse">
            <a:avLst/>
          </a:prstGeom>
          <a:solidFill>
            <a:srgbClr val="0F1E40"/>
          </a:solidFill>
          <a:ln/>
        </p:spPr>
      </p:sp>
      <p:sp>
        <p:nvSpPr>
          <p:cNvPr id="23" name="Text 21"/>
          <p:cNvSpPr/>
          <p:nvPr/>
        </p:nvSpPr>
        <p:spPr>
          <a:xfrm>
            <a:off x="9784080" y="2377440"/>
            <a:ext cx="1097280" cy="1097280"/>
          </a:xfrm>
          <a:prstGeom prst="rect">
            <a:avLst/>
          </a:prstGeom>
          <a:noFill/>
          <a:ln/>
        </p:spPr>
        <p:txBody>
          <a:bodyPr wrap="square" rtlCol="0" anchor="ctr"/>
          <a:lstStyle/>
          <a:p>
            <a:pPr algn="ctr" indent="0" marL="0">
              <a:buNone/>
            </a:pPr>
            <a:r>
              <a:rPr lang="en-US" sz="4400" b="1" dirty="0">
                <a:solidFill>
                  <a:srgbClr val="D4A744"/>
                </a:solidFill>
                <a:latin typeface="Calibri" pitchFamily="34" charset="0"/>
                <a:ea typeface="Calibri" pitchFamily="34" charset="-122"/>
                <a:cs typeface="Calibri" pitchFamily="34" charset="-120"/>
              </a:rPr>
              <a:t>3</a:t>
            </a:r>
            <a:endParaRPr lang="en-US" sz="4400" dirty="0"/>
          </a:p>
        </p:txBody>
      </p:sp>
      <p:sp>
        <p:nvSpPr>
          <p:cNvPr id="24" name="Text 22"/>
          <p:cNvSpPr/>
          <p:nvPr/>
        </p:nvSpPr>
        <p:spPr>
          <a:xfrm>
            <a:off x="8503920" y="3657600"/>
            <a:ext cx="3657600" cy="457200"/>
          </a:xfrm>
          <a:prstGeom prst="rect">
            <a:avLst/>
          </a:prstGeom>
          <a:noFill/>
          <a:ln/>
        </p:spPr>
        <p:txBody>
          <a:bodyPr wrap="square" rtlCol="0" anchor="ctr"/>
          <a:lstStyle/>
          <a:p>
            <a:pPr algn="ctr" indent="0" marL="0">
              <a:buNone/>
            </a:pPr>
            <a:r>
              <a:rPr lang="en-US" sz="2200" b="1" dirty="0">
                <a:solidFill>
                  <a:srgbClr val="0F1E40"/>
                </a:solidFill>
                <a:latin typeface="Calibri" pitchFamily="34" charset="0"/>
                <a:ea typeface="Calibri" pitchFamily="34" charset="-122"/>
                <a:cs typeface="Calibri" pitchFamily="34" charset="-120"/>
              </a:rPr>
              <a:t>Theo dõi &amp; Báo cáo</a:t>
            </a:r>
            <a:endParaRPr lang="en-US" sz="2200" dirty="0"/>
          </a:p>
        </p:txBody>
      </p:sp>
      <p:sp>
        <p:nvSpPr>
          <p:cNvPr id="25" name="Shape 23"/>
          <p:cNvSpPr/>
          <p:nvPr/>
        </p:nvSpPr>
        <p:spPr>
          <a:xfrm>
            <a:off x="9052560" y="4206240"/>
            <a:ext cx="2560320" cy="320040"/>
          </a:xfrm>
          <a:prstGeom prst="roundRect">
            <a:avLst>
              <a:gd name="adj" fmla="val 14286"/>
            </a:avLst>
          </a:prstGeom>
          <a:solidFill>
            <a:srgbClr val="FCE7A1"/>
          </a:solidFill>
          <a:ln/>
        </p:spPr>
      </p:sp>
      <p:sp>
        <p:nvSpPr>
          <p:cNvPr id="26" name="Text 24"/>
          <p:cNvSpPr/>
          <p:nvPr/>
        </p:nvSpPr>
        <p:spPr>
          <a:xfrm>
            <a:off x="9052560" y="4206240"/>
            <a:ext cx="2560320" cy="320040"/>
          </a:xfrm>
          <a:prstGeom prst="rect">
            <a:avLst/>
          </a:prstGeom>
          <a:noFill/>
          <a:ln/>
        </p:spPr>
        <p:txBody>
          <a:bodyPr wrap="square" rtlCol="0" anchor="ctr"/>
          <a:lstStyle/>
          <a:p>
            <a:pPr algn="ctr" indent="0" marL="0">
              <a:buNone/>
            </a:pPr>
            <a:r>
              <a:rPr lang="en-US" sz="1100" b="1" dirty="0">
                <a:solidFill>
                  <a:srgbClr val="0F1E40"/>
                </a:solidFill>
                <a:latin typeface="Calibri" pitchFamily="34" charset="0"/>
                <a:ea typeface="Calibri" pitchFamily="34" charset="-122"/>
                <a:cs typeface="Calibri" pitchFamily="34" charset="-120"/>
              </a:rPr>
              <a:t>Mọi lúc</a:t>
            </a:r>
            <a:endParaRPr lang="en-US" sz="1100" dirty="0"/>
          </a:p>
        </p:txBody>
      </p:sp>
      <p:sp>
        <p:nvSpPr>
          <p:cNvPr id="27" name="Text 25"/>
          <p:cNvSpPr/>
          <p:nvPr/>
        </p:nvSpPr>
        <p:spPr>
          <a:xfrm>
            <a:off x="8778240" y="4663440"/>
            <a:ext cx="3108960" cy="1005840"/>
          </a:xfrm>
          <a:prstGeom prst="rect">
            <a:avLst/>
          </a:prstGeom>
          <a:noFill/>
          <a:ln/>
        </p:spPr>
        <p:txBody>
          <a:bodyPr wrap="square" rtlCol="0" anchor="t"/>
          <a:lstStyle/>
          <a:p>
            <a:pPr algn="ctr" indent="0" marL="0">
              <a:buNone/>
            </a:pPr>
            <a:r>
              <a:rPr lang="en-US" sz="1300" dirty="0">
                <a:solidFill>
                  <a:srgbClr val="1E293B"/>
                </a:solidFill>
                <a:latin typeface="Calibri" pitchFamily="34" charset="0"/>
                <a:ea typeface="Calibri" pitchFamily="34" charset="-122"/>
                <a:cs typeface="Calibri" pitchFamily="34" charset="-120"/>
              </a:rPr>
              <a:t>Xem bảng cấu kiện, lọc theo xưởng, xuất báo cáo Excel.</a:t>
            </a:r>
            <a:endParaRPr lang="en-US" sz="1300" dirty="0"/>
          </a:p>
        </p:txBody>
      </p:sp>
      <p:sp>
        <p:nvSpPr>
          <p:cNvPr id="28" name="Text 26"/>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8/18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Bước 1: Import Master — nạp danh sách cấu kiện</a:t>
            </a:r>
            <a:endParaRPr lang="en-US" sz="2600" dirty="0"/>
          </a:p>
        </p:txBody>
      </p:sp>
      <p:sp>
        <p:nvSpPr>
          <p:cNvPr id="3" name="Text 1"/>
          <p:cNvSpPr/>
          <p:nvPr/>
        </p:nvSpPr>
        <p:spPr>
          <a:xfrm>
            <a:off x="457200" y="914400"/>
            <a:ext cx="109728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Upload file PKL → app tự phát hiện cột → bấm Import → xong</a:t>
            </a:r>
            <a:endParaRPr lang="en-US" sz="1300" dirty="0"/>
          </a:p>
        </p:txBody>
      </p:sp>
      <p:sp>
        <p:nvSpPr>
          <p:cNvPr id="4" name="Shape 2"/>
          <p:cNvSpPr/>
          <p:nvPr/>
        </p:nvSpPr>
        <p:spPr>
          <a:xfrm>
            <a:off x="457200" y="1463040"/>
            <a:ext cx="6858000" cy="4754880"/>
          </a:xfrm>
          <a:prstGeom prst="rect">
            <a:avLst>
              <a:gd name="adj" fmla="val 1538"/>
            </a:avLst>
          </a:prstGeom>
          <a:solidFill>
            <a:srgbClr val="EFF1F5"/>
          </a:solidFill>
          <a:ln w="12700">
            <a:solidFill>
              <a:srgbClr val="CBD5E1"/>
            </a:solidFill>
            <a:prstDash val="dash"/>
          </a:ln>
        </p:spPr>
      </p:sp>
      <p:sp>
        <p:nvSpPr>
          <p:cNvPr id="5" name="Text 3"/>
          <p:cNvSpPr/>
          <p:nvPr/>
        </p:nvSpPr>
        <p:spPr>
          <a:xfrm>
            <a:off x="457200" y="1463040"/>
            <a:ext cx="6858000" cy="475488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03_import_master_upload.png — Trang Import Master sau khi upload]</a:t>
            </a:r>
            <a:endParaRPr lang="en-US" sz="2400" dirty="0"/>
          </a:p>
        </p:txBody>
      </p:sp>
      <p:sp>
        <p:nvSpPr>
          <p:cNvPr id="6" name="Text 4"/>
          <p:cNvSpPr/>
          <p:nvPr/>
        </p:nvSpPr>
        <p:spPr>
          <a:xfrm>
            <a:off x="7589520" y="1463040"/>
            <a:ext cx="4114800" cy="365760"/>
          </a:xfrm>
          <a:prstGeom prst="rect">
            <a:avLst/>
          </a:prstGeom>
          <a:noFill/>
          <a:ln/>
        </p:spPr>
        <p:txBody>
          <a:bodyPr wrap="square" rtlCol="0" anchor="ctr"/>
          <a:lstStyle/>
          <a:p>
            <a:pPr indent="0" marL="0">
              <a:buNone/>
            </a:pPr>
            <a:r>
              <a:rPr lang="en-US" sz="1600" b="1" dirty="0">
                <a:solidFill>
                  <a:srgbClr val="0F1E40"/>
                </a:solidFill>
                <a:latin typeface="Calibri" pitchFamily="34" charset="0"/>
                <a:ea typeface="Calibri" pitchFamily="34" charset="-122"/>
                <a:cs typeface="Calibri" pitchFamily="34" charset="-120"/>
              </a:rPr>
              <a:t>Tính năng nổi bật</a:t>
            </a:r>
            <a:endParaRPr lang="en-US" sz="1600" dirty="0"/>
          </a:p>
        </p:txBody>
      </p:sp>
      <p:sp>
        <p:nvSpPr>
          <p:cNvPr id="7" name="Shape 5"/>
          <p:cNvSpPr/>
          <p:nvPr/>
        </p:nvSpPr>
        <p:spPr>
          <a:xfrm>
            <a:off x="7589520" y="1920240"/>
            <a:ext cx="4114800" cy="868680"/>
          </a:xfrm>
          <a:prstGeom prst="roundRect">
            <a:avLst>
              <a:gd name="adj" fmla="val 8421"/>
            </a:avLst>
          </a:prstGeom>
          <a:solidFill>
            <a:srgbClr val="FFFFFF"/>
          </a:solidFill>
          <a:ln w="12700">
            <a:solidFill>
              <a:srgbClr val="E2E8F0"/>
            </a:solidFill>
            <a:prstDash val="solid"/>
          </a:ln>
        </p:spPr>
      </p:sp>
      <p:sp>
        <p:nvSpPr>
          <p:cNvPr id="8" name="Text 6"/>
          <p:cNvSpPr/>
          <p:nvPr/>
        </p:nvSpPr>
        <p:spPr>
          <a:xfrm>
            <a:off x="7680960" y="1920240"/>
            <a:ext cx="3931920" cy="8686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Smart Auto-detect cột (không cần map thủ công)</a:t>
            </a:r>
            <a:endParaRPr lang="en-US" sz="1200" dirty="0"/>
          </a:p>
        </p:txBody>
      </p:sp>
      <p:sp>
        <p:nvSpPr>
          <p:cNvPr id="9" name="Shape 7"/>
          <p:cNvSpPr/>
          <p:nvPr/>
        </p:nvSpPr>
        <p:spPr>
          <a:xfrm>
            <a:off x="7589520" y="2926080"/>
            <a:ext cx="4114800" cy="868680"/>
          </a:xfrm>
          <a:prstGeom prst="roundRect">
            <a:avLst>
              <a:gd name="adj" fmla="val 8421"/>
            </a:avLst>
          </a:prstGeom>
          <a:solidFill>
            <a:srgbClr val="FFFFFF"/>
          </a:solidFill>
          <a:ln w="12700">
            <a:solidFill>
              <a:srgbClr val="E2E8F0"/>
            </a:solidFill>
            <a:prstDash val="solid"/>
          </a:ln>
        </p:spPr>
      </p:sp>
      <p:sp>
        <p:nvSpPr>
          <p:cNvPr id="10" name="Text 8"/>
          <p:cNvSpPr/>
          <p:nvPr/>
        </p:nvSpPr>
        <p:spPr>
          <a:xfrm>
            <a:off x="7680960" y="2926080"/>
            <a:ext cx="3931920" cy="8686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Template có sẵn: VIOLA, PVF, Phú Quốc</a:t>
            </a:r>
            <a:endParaRPr lang="en-US" sz="1200" dirty="0"/>
          </a:p>
        </p:txBody>
      </p:sp>
      <p:sp>
        <p:nvSpPr>
          <p:cNvPr id="11" name="Shape 9"/>
          <p:cNvSpPr/>
          <p:nvPr/>
        </p:nvSpPr>
        <p:spPr>
          <a:xfrm>
            <a:off x="7589520" y="3931920"/>
            <a:ext cx="4114800" cy="868680"/>
          </a:xfrm>
          <a:prstGeom prst="roundRect">
            <a:avLst>
              <a:gd name="adj" fmla="val 8421"/>
            </a:avLst>
          </a:prstGeom>
          <a:solidFill>
            <a:srgbClr val="FFFFFF"/>
          </a:solidFill>
          <a:ln w="12700">
            <a:solidFill>
              <a:srgbClr val="E2E8F0"/>
            </a:solidFill>
            <a:prstDash val="solid"/>
          </a:ln>
        </p:spPr>
      </p:sp>
      <p:sp>
        <p:nvSpPr>
          <p:cNvPr id="12" name="Text 10"/>
          <p:cNvSpPr/>
          <p:nvPr/>
        </p:nvSpPr>
        <p:spPr>
          <a:xfrm>
            <a:off x="7680960" y="3931920"/>
            <a:ext cx="3931920" cy="8686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Cảnh báo khi REV THAY ĐỔI so với master cũ</a:t>
            </a:r>
            <a:endParaRPr lang="en-US" sz="1200" dirty="0"/>
          </a:p>
        </p:txBody>
      </p:sp>
      <p:sp>
        <p:nvSpPr>
          <p:cNvPr id="13" name="Shape 11"/>
          <p:cNvSpPr/>
          <p:nvPr/>
        </p:nvSpPr>
        <p:spPr>
          <a:xfrm>
            <a:off x="7589520" y="4937760"/>
            <a:ext cx="4114800" cy="868680"/>
          </a:xfrm>
          <a:prstGeom prst="roundRect">
            <a:avLst>
              <a:gd name="adj" fmla="val 8421"/>
            </a:avLst>
          </a:prstGeom>
          <a:solidFill>
            <a:srgbClr val="FFFFFF"/>
          </a:solidFill>
          <a:ln w="12700">
            <a:solidFill>
              <a:srgbClr val="E2E8F0"/>
            </a:solidFill>
            <a:prstDash val="solid"/>
          </a:ln>
        </p:spPr>
      </p:sp>
      <p:sp>
        <p:nvSpPr>
          <p:cNvPr id="14" name="Text 12"/>
          <p:cNvSpPr/>
          <p:nvPr/>
        </p:nvSpPr>
        <p:spPr>
          <a:xfrm>
            <a:off x="7680960" y="4937760"/>
            <a:ext cx="3931920" cy="8686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Hỗ trợ .xlsb / .xlsx / .csv  ·  upto 200MB</a:t>
            </a:r>
            <a:endParaRPr lang="en-US" sz="1200" dirty="0"/>
          </a:p>
        </p:txBody>
      </p:sp>
      <p:sp>
        <p:nvSpPr>
          <p:cNvPr id="15" name="Text 1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9/18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D4A744"/>
          </a:solidFill>
          <a:ln/>
        </p:spPr>
      </p:sp>
      <p:sp>
        <p:nvSpPr>
          <p:cNvPr id="3" name="Text 1"/>
          <p:cNvSpPr/>
          <p:nvPr/>
        </p:nvSpPr>
        <p:spPr>
          <a:xfrm>
            <a:off x="457200" y="274320"/>
            <a:ext cx="1645920" cy="365760"/>
          </a:xfrm>
          <a:prstGeom prst="rect">
            <a:avLst/>
          </a:prstGeom>
          <a:noFill/>
          <a:ln/>
        </p:spPr>
        <p:txBody>
          <a:bodyPr wrap="square" rtlCol="0" anchor="ctr"/>
          <a:lstStyle/>
          <a:p>
            <a:pPr indent="0" marL="0">
              <a:buNone/>
            </a:pPr>
            <a:r>
              <a:rPr lang="en-US" sz="1200" b="1" dirty="0">
                <a:solidFill>
                  <a:srgbClr val="D4A744"/>
                </a:solidFill>
                <a:latin typeface="Calibri" pitchFamily="34" charset="0"/>
                <a:ea typeface="Calibri" pitchFamily="34" charset="-122"/>
                <a:cs typeface="Calibri" pitchFamily="34" charset="-120"/>
              </a:rPr>
              <a:t>MỚI v2.0</a:t>
            </a:r>
            <a:endParaRPr lang="en-US" sz="1200" dirty="0"/>
          </a:p>
        </p:txBody>
      </p:sp>
      <p:sp>
        <p:nvSpPr>
          <p:cNvPr id="4" name="Text 2"/>
          <p:cNvSpPr/>
          <p:nvPr/>
        </p:nvSpPr>
        <p:spPr>
          <a:xfrm>
            <a:off x="457200" y="640080"/>
            <a:ext cx="10972800" cy="548640"/>
          </a:xfrm>
          <a:prstGeom prst="rect">
            <a:avLst/>
          </a:prstGeom>
          <a:noFill/>
          <a:ln/>
        </p:spPr>
        <p:txBody>
          <a:bodyPr wrap="square" rtlCol="0" anchor="ctr"/>
          <a:lstStyle/>
          <a:p>
            <a:pPr indent="0" marL="0">
              <a:buNone/>
            </a:pPr>
            <a:r>
              <a:rPr lang="en-US" sz="2800" b="1" dirty="0">
                <a:solidFill>
                  <a:srgbClr val="0F1E40"/>
                </a:solidFill>
                <a:latin typeface="Calibri" pitchFamily="34" charset="0"/>
                <a:ea typeface="Calibri" pitchFamily="34" charset="-122"/>
                <a:cs typeface="Calibri" pitchFamily="34" charset="-120"/>
              </a:rPr>
              <a:t>Phát hiện inspection ĐÃ NGHIỆM THU sẵn</a:t>
            </a:r>
            <a:endParaRPr lang="en-US" sz="2800" dirty="0"/>
          </a:p>
        </p:txBody>
      </p:sp>
      <p:sp>
        <p:nvSpPr>
          <p:cNvPr id="5" name="Text 3"/>
          <p:cNvSpPr/>
          <p:nvPr/>
        </p:nvSpPr>
        <p:spPr>
          <a:xfrm>
            <a:off x="457200" y="1188720"/>
            <a:ext cx="1124712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File master có sẵn cột RFI Fit-up + RFI Final  →  app TỰ TẠO inspection PASS — không cần import lại</a:t>
            </a:r>
            <a:endParaRPr lang="en-US" sz="1300" dirty="0"/>
          </a:p>
        </p:txBody>
      </p:sp>
      <p:sp>
        <p:nvSpPr>
          <p:cNvPr id="6" name="Text 4"/>
          <p:cNvSpPr/>
          <p:nvPr/>
        </p:nvSpPr>
        <p:spPr>
          <a:xfrm>
            <a:off x="457200" y="1737360"/>
            <a:ext cx="10972800" cy="365760"/>
          </a:xfrm>
          <a:prstGeom prst="rect">
            <a:avLst/>
          </a:prstGeom>
          <a:noFill/>
          <a:ln/>
        </p:spPr>
        <p:txBody>
          <a:bodyPr wrap="square" rtlCol="0" anchor="ctr"/>
          <a:lstStyle/>
          <a:p>
            <a:pPr indent="0" marL="0">
              <a:buNone/>
            </a:pPr>
            <a:r>
              <a:rPr lang="en-US" sz="1600" b="1" dirty="0">
                <a:solidFill>
                  <a:srgbClr val="0F1E40"/>
                </a:solidFill>
                <a:latin typeface="Calibri" pitchFamily="34" charset="0"/>
                <a:ea typeface="Calibri" pitchFamily="34" charset="-122"/>
                <a:cs typeface="Calibri" pitchFamily="34" charset="-120"/>
              </a:rPr>
              <a:t>Ví dụ thực tế  —  File master Phú Quốc (2,211 cấu kiện)</a:t>
            </a:r>
            <a:endParaRPr lang="en-US" sz="1600" dirty="0"/>
          </a:p>
        </p:txBody>
      </p:sp>
      <p:sp>
        <p:nvSpPr>
          <p:cNvPr id="7" name="Shape 5"/>
          <p:cNvSpPr/>
          <p:nvPr/>
        </p:nvSpPr>
        <p:spPr>
          <a:xfrm>
            <a:off x="457200" y="2286000"/>
            <a:ext cx="3657600" cy="2011680"/>
          </a:xfrm>
          <a:prstGeom prst="roundRect">
            <a:avLst>
              <a:gd name="adj" fmla="val 4545"/>
            </a:avLst>
          </a:prstGeom>
          <a:solidFill>
            <a:srgbClr val="FFFFFF"/>
          </a:solidFill>
          <a:ln w="38100">
            <a:solidFill>
              <a:srgbClr val="D97706"/>
            </a:solidFill>
            <a:prstDash val="solid"/>
          </a:ln>
        </p:spPr>
      </p:sp>
      <p:sp>
        <p:nvSpPr>
          <p:cNvPr id="8" name="Text 6"/>
          <p:cNvSpPr/>
          <p:nvPr/>
        </p:nvSpPr>
        <p:spPr>
          <a:xfrm>
            <a:off x="457200" y="2468880"/>
            <a:ext cx="3657600" cy="868680"/>
          </a:xfrm>
          <a:prstGeom prst="rect">
            <a:avLst/>
          </a:prstGeom>
          <a:noFill/>
          <a:ln/>
        </p:spPr>
        <p:txBody>
          <a:bodyPr wrap="square" rtlCol="0" anchor="ctr"/>
          <a:lstStyle/>
          <a:p>
            <a:pPr algn="ctr" indent="0" marL="0">
              <a:buNone/>
            </a:pPr>
            <a:r>
              <a:rPr lang="en-US" sz="5600" b="1" dirty="0">
                <a:solidFill>
                  <a:srgbClr val="D97706"/>
                </a:solidFill>
                <a:latin typeface="Calibri" pitchFamily="34" charset="0"/>
                <a:ea typeface="Calibri" pitchFamily="34" charset="-122"/>
                <a:cs typeface="Calibri" pitchFamily="34" charset="-120"/>
              </a:rPr>
              <a:t>1,160</a:t>
            </a:r>
            <a:endParaRPr lang="en-US" sz="5600" dirty="0"/>
          </a:p>
        </p:txBody>
      </p:sp>
      <p:sp>
        <p:nvSpPr>
          <p:cNvPr id="9" name="Text 7"/>
          <p:cNvSpPr/>
          <p:nvPr/>
        </p:nvSpPr>
        <p:spPr>
          <a:xfrm>
            <a:off x="457200" y="3383280"/>
            <a:ext cx="3657600" cy="365760"/>
          </a:xfrm>
          <a:prstGeom prst="rect">
            <a:avLst/>
          </a:prstGeom>
          <a:noFill/>
          <a:ln/>
        </p:spPr>
        <p:txBody>
          <a:bodyPr wrap="square" rtlCol="0" anchor="ctr"/>
          <a:lstStyle/>
          <a:p>
            <a:pPr algn="ctr" indent="0" marL="0">
              <a:buNone/>
            </a:pPr>
            <a:r>
              <a:rPr lang="en-US" sz="1400" b="1" dirty="0">
                <a:solidFill>
                  <a:srgbClr val="0F1E40"/>
                </a:solidFill>
                <a:latin typeface="Calibri" pitchFamily="34" charset="0"/>
                <a:ea typeface="Calibri" pitchFamily="34" charset="-122"/>
                <a:cs typeface="Calibri" pitchFamily="34" charset="-120"/>
              </a:rPr>
              <a:t>Cấu kiện đã Fit-up</a:t>
            </a:r>
            <a:endParaRPr lang="en-US" sz="1400" dirty="0"/>
          </a:p>
        </p:txBody>
      </p:sp>
      <p:sp>
        <p:nvSpPr>
          <p:cNvPr id="10" name="Text 8"/>
          <p:cNvSpPr/>
          <p:nvPr/>
        </p:nvSpPr>
        <p:spPr>
          <a:xfrm>
            <a:off x="457200" y="3749040"/>
            <a:ext cx="365760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Tự tạo FUR PASS</a:t>
            </a:r>
            <a:endParaRPr lang="en-US" sz="1100" dirty="0"/>
          </a:p>
        </p:txBody>
      </p:sp>
      <p:sp>
        <p:nvSpPr>
          <p:cNvPr id="11" name="Shape 9"/>
          <p:cNvSpPr/>
          <p:nvPr/>
        </p:nvSpPr>
        <p:spPr>
          <a:xfrm>
            <a:off x="4343400" y="2286000"/>
            <a:ext cx="3657600" cy="2011680"/>
          </a:xfrm>
          <a:prstGeom prst="roundRect">
            <a:avLst>
              <a:gd name="adj" fmla="val 4545"/>
            </a:avLst>
          </a:prstGeom>
          <a:solidFill>
            <a:srgbClr val="FFFFFF"/>
          </a:solidFill>
          <a:ln w="38100">
            <a:solidFill>
              <a:srgbClr val="16A34A"/>
            </a:solidFill>
            <a:prstDash val="solid"/>
          </a:ln>
        </p:spPr>
      </p:sp>
      <p:sp>
        <p:nvSpPr>
          <p:cNvPr id="12" name="Text 10"/>
          <p:cNvSpPr/>
          <p:nvPr/>
        </p:nvSpPr>
        <p:spPr>
          <a:xfrm>
            <a:off x="4343400" y="2468880"/>
            <a:ext cx="3657600" cy="868680"/>
          </a:xfrm>
          <a:prstGeom prst="rect">
            <a:avLst/>
          </a:prstGeom>
          <a:noFill/>
          <a:ln/>
        </p:spPr>
        <p:txBody>
          <a:bodyPr wrap="square" rtlCol="0" anchor="ctr"/>
          <a:lstStyle/>
          <a:p>
            <a:pPr algn="ctr" indent="0" marL="0">
              <a:buNone/>
            </a:pPr>
            <a:r>
              <a:rPr lang="en-US" sz="5600" b="1" dirty="0">
                <a:solidFill>
                  <a:srgbClr val="16A34A"/>
                </a:solidFill>
                <a:latin typeface="Calibri" pitchFamily="34" charset="0"/>
                <a:ea typeface="Calibri" pitchFamily="34" charset="-122"/>
                <a:cs typeface="Calibri" pitchFamily="34" charset="-120"/>
              </a:rPr>
              <a:t>1,089</a:t>
            </a:r>
            <a:endParaRPr lang="en-US" sz="5600" dirty="0"/>
          </a:p>
        </p:txBody>
      </p:sp>
      <p:sp>
        <p:nvSpPr>
          <p:cNvPr id="13" name="Text 11"/>
          <p:cNvSpPr/>
          <p:nvPr/>
        </p:nvSpPr>
        <p:spPr>
          <a:xfrm>
            <a:off x="4343400" y="3383280"/>
            <a:ext cx="3657600" cy="365760"/>
          </a:xfrm>
          <a:prstGeom prst="rect">
            <a:avLst/>
          </a:prstGeom>
          <a:noFill/>
          <a:ln/>
        </p:spPr>
        <p:txBody>
          <a:bodyPr wrap="square" rtlCol="0" anchor="ctr"/>
          <a:lstStyle/>
          <a:p>
            <a:pPr algn="ctr" indent="0" marL="0">
              <a:buNone/>
            </a:pPr>
            <a:r>
              <a:rPr lang="en-US" sz="1400" b="1" dirty="0">
                <a:solidFill>
                  <a:srgbClr val="0F1E40"/>
                </a:solidFill>
                <a:latin typeface="Calibri" pitchFamily="34" charset="0"/>
                <a:ea typeface="Calibri" pitchFamily="34" charset="-122"/>
                <a:cs typeface="Calibri" pitchFamily="34" charset="-120"/>
              </a:rPr>
              <a:t>Cấu kiện đã Final</a:t>
            </a:r>
            <a:endParaRPr lang="en-US" sz="1400" dirty="0"/>
          </a:p>
        </p:txBody>
      </p:sp>
      <p:sp>
        <p:nvSpPr>
          <p:cNvPr id="14" name="Text 12"/>
          <p:cNvSpPr/>
          <p:nvPr/>
        </p:nvSpPr>
        <p:spPr>
          <a:xfrm>
            <a:off x="4343400" y="3749040"/>
            <a:ext cx="365760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Tự tạo DGRP PASS → ACCEPTED</a:t>
            </a:r>
            <a:endParaRPr lang="en-US" sz="1100" dirty="0"/>
          </a:p>
        </p:txBody>
      </p:sp>
      <p:sp>
        <p:nvSpPr>
          <p:cNvPr id="15" name="Shape 13"/>
          <p:cNvSpPr/>
          <p:nvPr/>
        </p:nvSpPr>
        <p:spPr>
          <a:xfrm>
            <a:off x="8229600" y="2286000"/>
            <a:ext cx="3657600" cy="2011680"/>
          </a:xfrm>
          <a:prstGeom prst="roundRect">
            <a:avLst>
              <a:gd name="adj" fmla="val 4545"/>
            </a:avLst>
          </a:prstGeom>
          <a:solidFill>
            <a:srgbClr val="FFFFFF"/>
          </a:solidFill>
          <a:ln w="38100">
            <a:solidFill>
              <a:srgbClr val="64748B"/>
            </a:solidFill>
            <a:prstDash val="solid"/>
          </a:ln>
        </p:spPr>
      </p:sp>
      <p:sp>
        <p:nvSpPr>
          <p:cNvPr id="16" name="Text 14"/>
          <p:cNvSpPr/>
          <p:nvPr/>
        </p:nvSpPr>
        <p:spPr>
          <a:xfrm>
            <a:off x="8229600" y="2468880"/>
            <a:ext cx="3657600" cy="868680"/>
          </a:xfrm>
          <a:prstGeom prst="rect">
            <a:avLst/>
          </a:prstGeom>
          <a:noFill/>
          <a:ln/>
        </p:spPr>
        <p:txBody>
          <a:bodyPr wrap="square" rtlCol="0" anchor="ctr"/>
          <a:lstStyle/>
          <a:p>
            <a:pPr algn="ctr" indent="0" marL="0">
              <a:buNone/>
            </a:pPr>
            <a:r>
              <a:rPr lang="en-US" sz="5600" b="1" dirty="0">
                <a:solidFill>
                  <a:srgbClr val="64748B"/>
                </a:solidFill>
                <a:latin typeface="Calibri" pitchFamily="34" charset="0"/>
                <a:ea typeface="Calibri" pitchFamily="34" charset="-122"/>
                <a:cs typeface="Calibri" pitchFamily="34" charset="-120"/>
              </a:rPr>
              <a:t>913</a:t>
            </a:r>
            <a:endParaRPr lang="en-US" sz="5600" dirty="0"/>
          </a:p>
        </p:txBody>
      </p:sp>
      <p:sp>
        <p:nvSpPr>
          <p:cNvPr id="17" name="Text 15"/>
          <p:cNvSpPr/>
          <p:nvPr/>
        </p:nvSpPr>
        <p:spPr>
          <a:xfrm>
            <a:off x="8229600" y="3383280"/>
            <a:ext cx="3657600" cy="365760"/>
          </a:xfrm>
          <a:prstGeom prst="rect">
            <a:avLst/>
          </a:prstGeom>
          <a:noFill/>
          <a:ln/>
        </p:spPr>
        <p:txBody>
          <a:bodyPr wrap="square" rtlCol="0" anchor="ctr"/>
          <a:lstStyle/>
          <a:p>
            <a:pPr algn="ctr" indent="0" marL="0">
              <a:buNone/>
            </a:pPr>
            <a:r>
              <a:rPr lang="en-US" sz="1400" b="1" dirty="0">
                <a:solidFill>
                  <a:srgbClr val="0F1E40"/>
                </a:solidFill>
                <a:latin typeface="Calibri" pitchFamily="34" charset="0"/>
                <a:ea typeface="Calibri" pitchFamily="34" charset="-122"/>
                <a:cs typeface="Calibri" pitchFamily="34" charset="-120"/>
              </a:rPr>
              <a:t>Cấu kiện chưa NT</a:t>
            </a:r>
            <a:endParaRPr lang="en-US" sz="1400" dirty="0"/>
          </a:p>
        </p:txBody>
      </p:sp>
      <p:sp>
        <p:nvSpPr>
          <p:cNvPr id="18" name="Text 16"/>
          <p:cNvSpPr/>
          <p:nvPr/>
        </p:nvSpPr>
        <p:spPr>
          <a:xfrm>
            <a:off x="8229600" y="3749040"/>
            <a:ext cx="365760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Đang chờ Daily Import</a:t>
            </a:r>
            <a:endParaRPr lang="en-US" sz="1100" dirty="0"/>
          </a:p>
        </p:txBody>
      </p:sp>
      <p:sp>
        <p:nvSpPr>
          <p:cNvPr id="19" name="Shape 17"/>
          <p:cNvSpPr/>
          <p:nvPr/>
        </p:nvSpPr>
        <p:spPr>
          <a:xfrm>
            <a:off x="457200" y="4663440"/>
            <a:ext cx="11247120" cy="1463040"/>
          </a:xfrm>
          <a:prstGeom prst="roundRect">
            <a:avLst>
              <a:gd name="adj" fmla="val 6250"/>
            </a:avLst>
          </a:prstGeom>
          <a:solidFill>
            <a:srgbClr val="FCE7A1"/>
          </a:solidFill>
          <a:ln/>
        </p:spPr>
      </p:sp>
      <p:sp>
        <p:nvSpPr>
          <p:cNvPr id="20" name="Text 18"/>
          <p:cNvSpPr/>
          <p:nvPr/>
        </p:nvSpPr>
        <p:spPr>
          <a:xfrm>
            <a:off x="640080" y="4754880"/>
            <a:ext cx="10972800" cy="365760"/>
          </a:xfrm>
          <a:prstGeom prst="rect">
            <a:avLst/>
          </a:prstGeom>
          <a:noFill/>
          <a:ln/>
        </p:spPr>
        <p:txBody>
          <a:bodyPr wrap="square" rtlCol="0" anchor="ctr"/>
          <a:lstStyle/>
          <a:p>
            <a:pPr indent="0" marL="0">
              <a:buNone/>
            </a:pPr>
            <a:r>
              <a:rPr lang="en-US" sz="1400" b="1" dirty="0">
                <a:solidFill>
                  <a:srgbClr val="0F1E40"/>
                </a:solidFill>
                <a:latin typeface="Calibri" pitchFamily="34" charset="0"/>
                <a:ea typeface="Calibri" pitchFamily="34" charset="-122"/>
                <a:cs typeface="Calibri" pitchFamily="34" charset="-120"/>
              </a:rPr>
              <a:t>💡  Ý nghĩa</a:t>
            </a:r>
            <a:endParaRPr lang="en-US" sz="1400" dirty="0"/>
          </a:p>
        </p:txBody>
      </p:sp>
      <p:sp>
        <p:nvSpPr>
          <p:cNvPr id="21" name="Text 19"/>
          <p:cNvSpPr/>
          <p:nvPr/>
        </p:nvSpPr>
        <p:spPr>
          <a:xfrm>
            <a:off x="640080" y="5120640"/>
            <a:ext cx="10881360" cy="91440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Anh em không cần import lại 2,249 file daily cho các cấu kiện đã có RFI trong master. App tự đọc cột RFI_Fit-up và RFI_Final → tự tạo bản ghi PASS với ngày tương ứng. Tiết kiệm vài ngày công nhập liệu cho dự án có lịch sử dài.</a:t>
            </a:r>
            <a:endParaRPr lang="en-US" sz="1300" dirty="0"/>
          </a:p>
        </p:txBody>
      </p:sp>
      <p:sp>
        <p:nvSpPr>
          <p:cNvPr id="22" name="Text 20"/>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10/18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800" b="1" dirty="0">
                <a:solidFill>
                  <a:srgbClr val="0F1E40"/>
                </a:solidFill>
                <a:latin typeface="Calibri" pitchFamily="34" charset="0"/>
                <a:ea typeface="Calibri" pitchFamily="34" charset="-122"/>
                <a:cs typeface="Calibri" pitchFamily="34" charset="-120"/>
              </a:rPr>
              <a:t>Tính năng: Kiểm soát Rev tự động</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Khi BPM cập nhật master mới với Rev mới, app SO SÁNH ngay và cảnh báo AE QC</a:t>
            </a:r>
            <a:endParaRPr lang="en-US" sz="1300" dirty="0"/>
          </a:p>
        </p:txBody>
      </p:sp>
      <p:sp>
        <p:nvSpPr>
          <p:cNvPr id="4" name="Shape 2"/>
          <p:cNvSpPr/>
          <p:nvPr/>
        </p:nvSpPr>
        <p:spPr>
          <a:xfrm>
            <a:off x="914400" y="1645920"/>
            <a:ext cx="10332720" cy="914400"/>
          </a:xfrm>
          <a:prstGeom prst="roundRect">
            <a:avLst>
              <a:gd name="adj" fmla="val 8000"/>
            </a:avLst>
          </a:prstGeom>
          <a:solidFill>
            <a:srgbClr val="FEF3C7"/>
          </a:solidFill>
          <a:ln w="25400">
            <a:solidFill>
              <a:srgbClr val="D97706"/>
            </a:solidFill>
            <a:prstDash val="solid"/>
          </a:ln>
        </p:spPr>
      </p:sp>
      <p:sp>
        <p:nvSpPr>
          <p:cNvPr id="5" name="Text 3"/>
          <p:cNvSpPr/>
          <p:nvPr/>
        </p:nvSpPr>
        <p:spPr>
          <a:xfrm>
            <a:off x="1188720" y="1691640"/>
            <a:ext cx="9784080" cy="365760"/>
          </a:xfrm>
          <a:prstGeom prst="rect">
            <a:avLst/>
          </a:prstGeom>
          <a:noFill/>
          <a:ln/>
        </p:spPr>
        <p:txBody>
          <a:bodyPr wrap="square"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  Phát hiện 12 cấu kiện có REVISION THAY ĐỔI so với master cũ</a:t>
            </a:r>
            <a:endParaRPr lang="en-US" sz="1600" dirty="0"/>
          </a:p>
        </p:txBody>
      </p:sp>
      <p:sp>
        <p:nvSpPr>
          <p:cNvPr id="6" name="Text 4"/>
          <p:cNvSpPr/>
          <p:nvPr/>
        </p:nvSpPr>
        <p:spPr>
          <a:xfrm>
            <a:off x="1188720" y="2057400"/>
            <a:ext cx="9784080" cy="45720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Anh cần xem xét: bản vẽ đã update → nên kiểm tra lại Fit-up/Final cho các cấu kiện này.</a:t>
            </a:r>
            <a:endParaRPr lang="en-US" sz="1200" dirty="0"/>
          </a:p>
        </p:txBody>
      </p:sp>
      <p:sp>
        <p:nvSpPr>
          <p:cNvPr id="7" name="Shape 5"/>
          <p:cNvSpPr/>
          <p:nvPr/>
        </p:nvSpPr>
        <p:spPr>
          <a:xfrm>
            <a:off x="914400" y="2743200"/>
            <a:ext cx="10332720" cy="365760"/>
          </a:xfrm>
          <a:prstGeom prst="rect">
            <a:avLst/>
          </a:prstGeom>
          <a:solidFill>
            <a:srgbClr val="0F1E40"/>
          </a:solidFill>
          <a:ln/>
        </p:spPr>
      </p:sp>
      <p:sp>
        <p:nvSpPr>
          <p:cNvPr id="8" name="Text 6"/>
          <p:cNvSpPr/>
          <p:nvPr/>
        </p:nvSpPr>
        <p:spPr>
          <a:xfrm>
            <a:off x="1005840" y="2743200"/>
            <a:ext cx="2743200" cy="365760"/>
          </a:xfrm>
          <a:prstGeom prst="rect">
            <a:avLst/>
          </a:prstGeom>
          <a:noFill/>
          <a:ln/>
        </p:spPr>
        <p:txBody>
          <a:bodyPr wrap="square" rtlCol="0" anchor="ctr"/>
          <a:lstStyle/>
          <a:p>
            <a:pPr indent="0" marL="0">
              <a:buNone/>
            </a:pPr>
            <a:r>
              <a:rPr lang="en-US" sz="1200" b="1" dirty="0">
                <a:solidFill>
                  <a:srgbClr val="D4A744"/>
                </a:solidFill>
                <a:latin typeface="Calibri" pitchFamily="34" charset="0"/>
                <a:ea typeface="Calibri" pitchFamily="34" charset="-122"/>
                <a:cs typeface="Calibri" pitchFamily="34" charset="-120"/>
              </a:rPr>
              <a:t>Mã cấu kiện</a:t>
            </a:r>
            <a:endParaRPr lang="en-US" sz="1200" dirty="0"/>
          </a:p>
        </p:txBody>
      </p:sp>
      <p:sp>
        <p:nvSpPr>
          <p:cNvPr id="9" name="Text 7"/>
          <p:cNvSpPr/>
          <p:nvPr/>
        </p:nvSpPr>
        <p:spPr>
          <a:xfrm>
            <a:off x="3749040" y="2743200"/>
            <a:ext cx="4572000" cy="365760"/>
          </a:xfrm>
          <a:prstGeom prst="rect">
            <a:avLst/>
          </a:prstGeom>
          <a:noFill/>
          <a:ln/>
        </p:spPr>
        <p:txBody>
          <a:bodyPr wrap="square" rtlCol="0" anchor="ctr"/>
          <a:lstStyle/>
          <a:p>
            <a:pPr indent="0" marL="0">
              <a:buNone/>
            </a:pPr>
            <a:r>
              <a:rPr lang="en-US" sz="1200" b="1" dirty="0">
                <a:solidFill>
                  <a:srgbClr val="D4A744"/>
                </a:solidFill>
                <a:latin typeface="Calibri" pitchFamily="34" charset="0"/>
                <a:ea typeface="Calibri" pitchFamily="34" charset="-122"/>
                <a:cs typeface="Calibri" pitchFamily="34" charset="-120"/>
              </a:rPr>
              <a:t>Bản vẽ</a:t>
            </a:r>
            <a:endParaRPr lang="en-US" sz="1200" dirty="0"/>
          </a:p>
        </p:txBody>
      </p:sp>
      <p:sp>
        <p:nvSpPr>
          <p:cNvPr id="10" name="Text 8"/>
          <p:cNvSpPr/>
          <p:nvPr/>
        </p:nvSpPr>
        <p:spPr>
          <a:xfrm>
            <a:off x="8321040" y="2743200"/>
            <a:ext cx="1371600" cy="365760"/>
          </a:xfrm>
          <a:prstGeom prst="rect">
            <a:avLst/>
          </a:prstGeom>
          <a:noFill/>
          <a:ln/>
        </p:spPr>
        <p:txBody>
          <a:bodyPr wrap="square" rtlCol="0" anchor="ctr"/>
          <a:lstStyle/>
          <a:p>
            <a:pPr indent="0" marL="0">
              <a:buNone/>
            </a:pPr>
            <a:r>
              <a:rPr lang="en-US" sz="1200" b="1" dirty="0">
                <a:solidFill>
                  <a:srgbClr val="D4A744"/>
                </a:solidFill>
                <a:latin typeface="Calibri" pitchFamily="34" charset="0"/>
                <a:ea typeface="Calibri" pitchFamily="34" charset="-122"/>
                <a:cs typeface="Calibri" pitchFamily="34" charset="-120"/>
              </a:rPr>
              <a:t>Rev cũ</a:t>
            </a:r>
            <a:endParaRPr lang="en-US" sz="1200" dirty="0"/>
          </a:p>
        </p:txBody>
      </p:sp>
      <p:sp>
        <p:nvSpPr>
          <p:cNvPr id="11" name="Text 9"/>
          <p:cNvSpPr/>
          <p:nvPr/>
        </p:nvSpPr>
        <p:spPr>
          <a:xfrm>
            <a:off x="9692640" y="2743200"/>
            <a:ext cx="1645920" cy="365760"/>
          </a:xfrm>
          <a:prstGeom prst="rect">
            <a:avLst/>
          </a:prstGeom>
          <a:noFill/>
          <a:ln/>
        </p:spPr>
        <p:txBody>
          <a:bodyPr wrap="square" rtlCol="0" anchor="ctr"/>
          <a:lstStyle/>
          <a:p>
            <a:pPr indent="0" marL="0">
              <a:buNone/>
            </a:pPr>
            <a:r>
              <a:rPr lang="en-US" sz="1200" b="1" dirty="0">
                <a:solidFill>
                  <a:srgbClr val="D4A744"/>
                </a:solidFill>
                <a:latin typeface="Calibri" pitchFamily="34" charset="0"/>
                <a:ea typeface="Calibri" pitchFamily="34" charset="-122"/>
                <a:cs typeface="Calibri" pitchFamily="34" charset="-120"/>
              </a:rPr>
              <a:t>Rev mới</a:t>
            </a:r>
            <a:endParaRPr lang="en-US" sz="1200" dirty="0"/>
          </a:p>
        </p:txBody>
      </p:sp>
      <p:sp>
        <p:nvSpPr>
          <p:cNvPr id="12" name="Shape 10"/>
          <p:cNvSpPr/>
          <p:nvPr/>
        </p:nvSpPr>
        <p:spPr>
          <a:xfrm>
            <a:off x="914400" y="3108960"/>
            <a:ext cx="10332720" cy="411480"/>
          </a:xfrm>
          <a:prstGeom prst="rect">
            <a:avLst/>
          </a:prstGeom>
          <a:solidFill>
            <a:srgbClr val="FFFFFF"/>
          </a:solidFill>
          <a:ln/>
        </p:spPr>
      </p:sp>
      <p:sp>
        <p:nvSpPr>
          <p:cNvPr id="13" name="Text 11"/>
          <p:cNvSpPr/>
          <p:nvPr/>
        </p:nvSpPr>
        <p:spPr>
          <a:xfrm>
            <a:off x="1005840" y="3108960"/>
            <a:ext cx="27432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JB-001-1/1</a:t>
            </a:r>
            <a:endParaRPr lang="en-US" sz="1100" dirty="0"/>
          </a:p>
        </p:txBody>
      </p:sp>
      <p:sp>
        <p:nvSpPr>
          <p:cNvPr id="14" name="Text 12"/>
          <p:cNvSpPr/>
          <p:nvPr/>
        </p:nvSpPr>
        <p:spPr>
          <a:xfrm>
            <a:off x="3749040" y="3108960"/>
            <a:ext cx="45720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PQIA-PTB-DDC-S3-SW-RF-ZONE1-JB-001</a:t>
            </a:r>
            <a:endParaRPr lang="en-US" sz="1100" dirty="0"/>
          </a:p>
        </p:txBody>
      </p:sp>
      <p:sp>
        <p:nvSpPr>
          <p:cNvPr id="15" name="Text 13"/>
          <p:cNvSpPr/>
          <p:nvPr/>
        </p:nvSpPr>
        <p:spPr>
          <a:xfrm>
            <a:off x="8321040" y="3108960"/>
            <a:ext cx="137160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9692640" y="3108960"/>
            <a:ext cx="164592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17" name="Shape 15"/>
          <p:cNvSpPr/>
          <p:nvPr/>
        </p:nvSpPr>
        <p:spPr>
          <a:xfrm>
            <a:off x="914400" y="3520440"/>
            <a:ext cx="10332720" cy="411480"/>
          </a:xfrm>
          <a:prstGeom prst="rect">
            <a:avLst/>
          </a:prstGeom>
          <a:solidFill>
            <a:srgbClr val="F8FAFC"/>
          </a:solidFill>
          <a:ln/>
        </p:spPr>
      </p:sp>
      <p:sp>
        <p:nvSpPr>
          <p:cNvPr id="18" name="Text 16"/>
          <p:cNvSpPr/>
          <p:nvPr/>
        </p:nvSpPr>
        <p:spPr>
          <a:xfrm>
            <a:off x="1005840" y="3520440"/>
            <a:ext cx="27432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JB-017-1/1</a:t>
            </a:r>
            <a:endParaRPr lang="en-US" sz="1100" dirty="0"/>
          </a:p>
        </p:txBody>
      </p:sp>
      <p:sp>
        <p:nvSpPr>
          <p:cNvPr id="19" name="Text 17"/>
          <p:cNvSpPr/>
          <p:nvPr/>
        </p:nvSpPr>
        <p:spPr>
          <a:xfrm>
            <a:off x="3749040" y="3520440"/>
            <a:ext cx="45720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PQIA-PTB-DDC-S3-SW-RF-ZONE1-JB-017</a:t>
            </a:r>
            <a:endParaRPr lang="en-US" sz="1100" dirty="0"/>
          </a:p>
        </p:txBody>
      </p:sp>
      <p:sp>
        <p:nvSpPr>
          <p:cNvPr id="20" name="Text 18"/>
          <p:cNvSpPr/>
          <p:nvPr/>
        </p:nvSpPr>
        <p:spPr>
          <a:xfrm>
            <a:off x="8321040" y="3520440"/>
            <a:ext cx="137160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21" name="Text 19"/>
          <p:cNvSpPr/>
          <p:nvPr/>
        </p:nvSpPr>
        <p:spPr>
          <a:xfrm>
            <a:off x="9692640" y="3520440"/>
            <a:ext cx="164592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22" name="Shape 20"/>
          <p:cNvSpPr/>
          <p:nvPr/>
        </p:nvSpPr>
        <p:spPr>
          <a:xfrm>
            <a:off x="914400" y="3931920"/>
            <a:ext cx="10332720" cy="411480"/>
          </a:xfrm>
          <a:prstGeom prst="rect">
            <a:avLst/>
          </a:prstGeom>
          <a:solidFill>
            <a:srgbClr val="FFFFFF"/>
          </a:solidFill>
          <a:ln/>
        </p:spPr>
      </p:sp>
      <p:sp>
        <p:nvSpPr>
          <p:cNvPr id="23" name="Text 21"/>
          <p:cNvSpPr/>
          <p:nvPr/>
        </p:nvSpPr>
        <p:spPr>
          <a:xfrm>
            <a:off x="1005840" y="3931920"/>
            <a:ext cx="27432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GT-011-1/2</a:t>
            </a:r>
            <a:endParaRPr lang="en-US" sz="1100" dirty="0"/>
          </a:p>
        </p:txBody>
      </p:sp>
      <p:sp>
        <p:nvSpPr>
          <p:cNvPr id="24" name="Text 22"/>
          <p:cNvSpPr/>
          <p:nvPr/>
        </p:nvSpPr>
        <p:spPr>
          <a:xfrm>
            <a:off x="3749040" y="3931920"/>
            <a:ext cx="45720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PQIA-PTB-DDC-S3-SW-RF-ZONE1-GT-011</a:t>
            </a:r>
            <a:endParaRPr lang="en-US" sz="1100" dirty="0"/>
          </a:p>
        </p:txBody>
      </p:sp>
      <p:sp>
        <p:nvSpPr>
          <p:cNvPr id="25" name="Text 23"/>
          <p:cNvSpPr/>
          <p:nvPr/>
        </p:nvSpPr>
        <p:spPr>
          <a:xfrm>
            <a:off x="8321040" y="3931920"/>
            <a:ext cx="137160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9692640" y="3931920"/>
            <a:ext cx="1645920" cy="41148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3</a:t>
            </a:r>
            <a:endParaRPr lang="en-US" sz="1100" dirty="0"/>
          </a:p>
        </p:txBody>
      </p:sp>
      <p:sp>
        <p:nvSpPr>
          <p:cNvPr id="27" name="Shape 25"/>
          <p:cNvSpPr/>
          <p:nvPr/>
        </p:nvSpPr>
        <p:spPr>
          <a:xfrm>
            <a:off x="914400" y="4937760"/>
            <a:ext cx="10332720" cy="1188720"/>
          </a:xfrm>
          <a:prstGeom prst="roundRect">
            <a:avLst>
              <a:gd name="adj" fmla="val 7692"/>
            </a:avLst>
          </a:prstGeom>
          <a:solidFill>
            <a:srgbClr val="0F1E40"/>
          </a:solidFill>
          <a:ln/>
        </p:spPr>
      </p:sp>
      <p:sp>
        <p:nvSpPr>
          <p:cNvPr id="28" name="Text 26"/>
          <p:cNvSpPr/>
          <p:nvPr/>
        </p:nvSpPr>
        <p:spPr>
          <a:xfrm>
            <a:off x="1097280" y="5029200"/>
            <a:ext cx="10058400" cy="365760"/>
          </a:xfrm>
          <a:prstGeom prst="rect">
            <a:avLst/>
          </a:prstGeom>
          <a:noFill/>
          <a:ln/>
        </p:spPr>
        <p:txBody>
          <a:bodyPr wrap="square" rtlCol="0" anchor="ctr"/>
          <a:lstStyle/>
          <a:p>
            <a:pPr indent="0" marL="0">
              <a:buNone/>
            </a:pPr>
            <a:r>
              <a:rPr lang="en-US" sz="1400" b="1" dirty="0">
                <a:solidFill>
                  <a:srgbClr val="D4A744"/>
                </a:solidFill>
                <a:latin typeface="Calibri" pitchFamily="34" charset="0"/>
                <a:ea typeface="Calibri" pitchFamily="34" charset="-122"/>
                <a:cs typeface="Calibri" pitchFamily="34" charset="-120"/>
              </a:rPr>
              <a:t>⚡  Tại sao tính năng này quan trọng?</a:t>
            </a:r>
            <a:endParaRPr lang="en-US" sz="1400" dirty="0"/>
          </a:p>
        </p:txBody>
      </p:sp>
      <p:sp>
        <p:nvSpPr>
          <p:cNvPr id="29" name="Text 27"/>
          <p:cNvSpPr/>
          <p:nvPr/>
        </p:nvSpPr>
        <p:spPr>
          <a:xfrm>
            <a:off x="1097280" y="5394960"/>
            <a:ext cx="10058400" cy="73152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Trước đây: BPM gửi master mới, QC import → không biết Rev nào đã đổi → vẫn KT theo Rev cũ → rework, tốn vật tư.</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Bây giờ: App so sánh Rev cũ vs mới, liệt kê danh sách cấu kiện đổi Rev → QC kiểm lại trước khi triển khai.</a:t>
            </a:r>
            <a:endParaRPr lang="en-US" sz="1200" dirty="0"/>
          </a:p>
        </p:txBody>
      </p:sp>
      <p:sp>
        <p:nvSpPr>
          <p:cNvPr id="30" name="Text 28"/>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11/18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Bước 2: Import Daily — file kiểm tra hàng ngày</a:t>
            </a:r>
            <a:endParaRPr lang="en-US" sz="2600" dirty="0"/>
          </a:p>
        </p:txBody>
      </p:sp>
      <p:sp>
        <p:nvSpPr>
          <p:cNvPr id="3" name="Text 1"/>
          <p:cNvSpPr/>
          <p:nvPr/>
        </p:nvSpPr>
        <p:spPr>
          <a:xfrm>
            <a:off x="457200" y="914400"/>
            <a:ext cx="1124712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Có file Fit-up hoặc Final mới ký → upload → app tự khớp với cấu kiện trong master</a:t>
            </a:r>
            <a:endParaRPr lang="en-US" sz="1300" dirty="0"/>
          </a:p>
        </p:txBody>
      </p:sp>
      <p:sp>
        <p:nvSpPr>
          <p:cNvPr id="4" name="Shape 2"/>
          <p:cNvSpPr/>
          <p:nvPr/>
        </p:nvSpPr>
        <p:spPr>
          <a:xfrm>
            <a:off x="457200" y="1463040"/>
            <a:ext cx="6858000" cy="4754880"/>
          </a:xfrm>
          <a:prstGeom prst="rect">
            <a:avLst>
              <a:gd name="adj" fmla="val 1538"/>
            </a:avLst>
          </a:prstGeom>
          <a:solidFill>
            <a:srgbClr val="EFF1F5"/>
          </a:solidFill>
          <a:ln w="12700">
            <a:solidFill>
              <a:srgbClr val="CBD5E1"/>
            </a:solidFill>
            <a:prstDash val="dash"/>
          </a:ln>
        </p:spPr>
      </p:sp>
      <p:sp>
        <p:nvSpPr>
          <p:cNvPr id="5" name="Text 3"/>
          <p:cNvSpPr/>
          <p:nvPr/>
        </p:nvSpPr>
        <p:spPr>
          <a:xfrm>
            <a:off x="457200" y="1463040"/>
            <a:ext cx="6858000" cy="475488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05_import_daily.png — Trang Import Daily với radio Fit-up/Final]</a:t>
            </a:r>
            <a:endParaRPr lang="en-US" sz="2400" dirty="0"/>
          </a:p>
        </p:txBody>
      </p:sp>
      <p:sp>
        <p:nvSpPr>
          <p:cNvPr id="6" name="Text 4"/>
          <p:cNvSpPr/>
          <p:nvPr/>
        </p:nvSpPr>
        <p:spPr>
          <a:xfrm>
            <a:off x="7589520" y="1463040"/>
            <a:ext cx="4114800" cy="365760"/>
          </a:xfrm>
          <a:prstGeom prst="rect">
            <a:avLst/>
          </a:prstGeom>
          <a:noFill/>
          <a:ln/>
        </p:spPr>
        <p:txBody>
          <a:bodyPr wrap="square" rtlCol="0" anchor="ctr"/>
          <a:lstStyle/>
          <a:p>
            <a:pPr indent="0" marL="0">
              <a:buNone/>
            </a:pPr>
            <a:r>
              <a:rPr lang="en-US" sz="1600" b="1" dirty="0">
                <a:solidFill>
                  <a:srgbClr val="0F1E40"/>
                </a:solidFill>
                <a:latin typeface="Calibri" pitchFamily="34" charset="0"/>
                <a:ea typeface="Calibri" pitchFamily="34" charset="-122"/>
                <a:cs typeface="Calibri" pitchFamily="34" charset="-120"/>
              </a:rPr>
              <a:t>Tính năng đặc biệt</a:t>
            </a:r>
            <a:endParaRPr lang="en-US" sz="1600" dirty="0"/>
          </a:p>
        </p:txBody>
      </p:sp>
      <p:sp>
        <p:nvSpPr>
          <p:cNvPr id="7" name="Shape 5"/>
          <p:cNvSpPr/>
          <p:nvPr/>
        </p:nvSpPr>
        <p:spPr>
          <a:xfrm>
            <a:off x="7589520" y="1920240"/>
            <a:ext cx="4114800" cy="914400"/>
          </a:xfrm>
          <a:prstGeom prst="roundRect">
            <a:avLst>
              <a:gd name="adj" fmla="val 8000"/>
            </a:avLst>
          </a:prstGeom>
          <a:solidFill>
            <a:srgbClr val="FFFFFF"/>
          </a:solidFill>
          <a:ln w="12700">
            <a:solidFill>
              <a:srgbClr val="E2E8F0"/>
            </a:solidFill>
            <a:prstDash val="solid"/>
          </a:ln>
        </p:spPr>
      </p:sp>
      <p:sp>
        <p:nvSpPr>
          <p:cNvPr id="8" name="Text 6"/>
          <p:cNvSpPr/>
          <p:nvPr/>
        </p:nvSpPr>
        <p:spPr>
          <a:xfrm>
            <a:off x="7680960" y="2011680"/>
            <a:ext cx="548640" cy="73152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9" name="Text 7"/>
          <p:cNvSpPr/>
          <p:nvPr/>
        </p:nvSpPr>
        <p:spPr>
          <a:xfrm>
            <a:off x="8229600" y="2011680"/>
            <a:ext cx="3474720" cy="320040"/>
          </a:xfrm>
          <a:prstGeom prst="rect">
            <a:avLst/>
          </a:prstGeom>
          <a:noFill/>
          <a:ln/>
        </p:spPr>
        <p:txBody>
          <a:bodyPr wrap="square" rtlCol="0" anchor="ctr"/>
          <a:lstStyle/>
          <a:p>
            <a:pPr indent="0" marL="0">
              <a:buNone/>
            </a:pPr>
            <a:r>
              <a:rPr lang="en-US" sz="1200" b="1" dirty="0">
                <a:solidFill>
                  <a:srgbClr val="0F1E40"/>
                </a:solidFill>
                <a:latin typeface="Calibri" pitchFamily="34" charset="0"/>
                <a:ea typeface="Calibri" pitchFamily="34" charset="-122"/>
                <a:cs typeface="Calibri" pitchFamily="34" charset="-120"/>
              </a:rPr>
              <a:t>Radio chọn loại</a:t>
            </a:r>
            <a:endParaRPr lang="en-US" sz="1200" dirty="0"/>
          </a:p>
        </p:txBody>
      </p:sp>
      <p:sp>
        <p:nvSpPr>
          <p:cNvPr id="10" name="Text 8"/>
          <p:cNvSpPr/>
          <p:nvPr/>
        </p:nvSpPr>
        <p:spPr>
          <a:xfrm>
            <a:off x="8229600" y="2331720"/>
            <a:ext cx="3474720" cy="54864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Fit-up (FUR) hay Final (DGRP)</a:t>
            </a:r>
            <a:endParaRPr lang="en-US" sz="1000" dirty="0"/>
          </a:p>
        </p:txBody>
      </p:sp>
      <p:sp>
        <p:nvSpPr>
          <p:cNvPr id="11" name="Shape 9"/>
          <p:cNvSpPr/>
          <p:nvPr/>
        </p:nvSpPr>
        <p:spPr>
          <a:xfrm>
            <a:off x="7589520" y="2971800"/>
            <a:ext cx="4114800" cy="914400"/>
          </a:xfrm>
          <a:prstGeom prst="roundRect">
            <a:avLst>
              <a:gd name="adj" fmla="val 8000"/>
            </a:avLst>
          </a:prstGeom>
          <a:solidFill>
            <a:srgbClr val="FFFFFF"/>
          </a:solidFill>
          <a:ln w="12700">
            <a:solidFill>
              <a:srgbClr val="E2E8F0"/>
            </a:solidFill>
            <a:prstDash val="solid"/>
          </a:ln>
        </p:spPr>
      </p:sp>
      <p:sp>
        <p:nvSpPr>
          <p:cNvPr id="12" name="Text 10"/>
          <p:cNvSpPr/>
          <p:nvPr/>
        </p:nvSpPr>
        <p:spPr>
          <a:xfrm>
            <a:off x="7680960" y="3063240"/>
            <a:ext cx="548640" cy="73152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3" name="Text 11"/>
          <p:cNvSpPr/>
          <p:nvPr/>
        </p:nvSpPr>
        <p:spPr>
          <a:xfrm>
            <a:off x="8229600" y="3063240"/>
            <a:ext cx="3474720" cy="320040"/>
          </a:xfrm>
          <a:prstGeom prst="rect">
            <a:avLst/>
          </a:prstGeom>
          <a:noFill/>
          <a:ln/>
        </p:spPr>
        <p:txBody>
          <a:bodyPr wrap="square" rtlCol="0" anchor="ctr"/>
          <a:lstStyle/>
          <a:p>
            <a:pPr indent="0" marL="0">
              <a:buNone/>
            </a:pPr>
            <a:r>
              <a:rPr lang="en-US" sz="1200" b="1" dirty="0">
                <a:solidFill>
                  <a:srgbClr val="0F1E40"/>
                </a:solidFill>
                <a:latin typeface="Calibri" pitchFamily="34" charset="0"/>
                <a:ea typeface="Calibri" pitchFamily="34" charset="-122"/>
                <a:cs typeface="Calibri" pitchFamily="34" charset="-120"/>
              </a:rPr>
              <a:t>Smart Match 3 lớp</a:t>
            </a:r>
            <a:endParaRPr lang="en-US" sz="1200" dirty="0"/>
          </a:p>
        </p:txBody>
      </p:sp>
      <p:sp>
        <p:nvSpPr>
          <p:cNvPr id="14" name="Text 12"/>
          <p:cNvSpPr/>
          <p:nvPr/>
        </p:nvSpPr>
        <p:spPr>
          <a:xfrm>
            <a:off x="8229600" y="3383280"/>
            <a:ext cx="3474720" cy="54864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Match Member Punch No với 3 cách: nguyên/strip prefix/strip suffix</a:t>
            </a:r>
            <a:endParaRPr lang="en-US" sz="1000" dirty="0"/>
          </a:p>
        </p:txBody>
      </p:sp>
      <p:sp>
        <p:nvSpPr>
          <p:cNvPr id="15" name="Shape 13"/>
          <p:cNvSpPr/>
          <p:nvPr/>
        </p:nvSpPr>
        <p:spPr>
          <a:xfrm>
            <a:off x="7589520" y="4023360"/>
            <a:ext cx="4114800" cy="914400"/>
          </a:xfrm>
          <a:prstGeom prst="roundRect">
            <a:avLst>
              <a:gd name="adj" fmla="val 8000"/>
            </a:avLst>
          </a:prstGeom>
          <a:solidFill>
            <a:srgbClr val="FFFFFF"/>
          </a:solidFill>
          <a:ln w="12700">
            <a:solidFill>
              <a:srgbClr val="E2E8F0"/>
            </a:solidFill>
            <a:prstDash val="solid"/>
          </a:ln>
        </p:spPr>
      </p:sp>
      <p:sp>
        <p:nvSpPr>
          <p:cNvPr id="16" name="Text 14"/>
          <p:cNvSpPr/>
          <p:nvPr/>
        </p:nvSpPr>
        <p:spPr>
          <a:xfrm>
            <a:off x="7680960" y="4114800"/>
            <a:ext cx="548640" cy="73152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7" name="Text 15"/>
          <p:cNvSpPr/>
          <p:nvPr/>
        </p:nvSpPr>
        <p:spPr>
          <a:xfrm>
            <a:off x="8229600" y="4114800"/>
            <a:ext cx="3474720" cy="320040"/>
          </a:xfrm>
          <a:prstGeom prst="rect">
            <a:avLst/>
          </a:prstGeom>
          <a:noFill/>
          <a:ln/>
        </p:spPr>
        <p:txBody>
          <a:bodyPr wrap="square" rtlCol="0" anchor="ctr"/>
          <a:lstStyle/>
          <a:p>
            <a:pPr indent="0" marL="0">
              <a:buNone/>
            </a:pPr>
            <a:r>
              <a:rPr lang="en-US" sz="1200" b="1" dirty="0">
                <a:solidFill>
                  <a:srgbClr val="0F1E40"/>
                </a:solidFill>
                <a:latin typeface="Calibri" pitchFamily="34" charset="0"/>
                <a:ea typeface="Calibri" pitchFamily="34" charset="-122"/>
                <a:cs typeface="Calibri" pitchFamily="34" charset="-120"/>
              </a:rPr>
              <a:t>Cảnh báo Final khi chưa Fit-up</a:t>
            </a:r>
            <a:endParaRPr lang="en-US" sz="1200" dirty="0"/>
          </a:p>
        </p:txBody>
      </p:sp>
      <p:sp>
        <p:nvSpPr>
          <p:cNvPr id="18" name="Text 16"/>
          <p:cNvSpPr/>
          <p:nvPr/>
        </p:nvSpPr>
        <p:spPr>
          <a:xfrm>
            <a:off x="8229600" y="4434840"/>
            <a:ext cx="3474720" cy="54864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Nhắc QC tránh nhập sai thứ tự</a:t>
            </a:r>
            <a:endParaRPr lang="en-US" sz="1000" dirty="0"/>
          </a:p>
        </p:txBody>
      </p:sp>
      <p:sp>
        <p:nvSpPr>
          <p:cNvPr id="19" name="Shape 17"/>
          <p:cNvSpPr/>
          <p:nvPr/>
        </p:nvSpPr>
        <p:spPr>
          <a:xfrm>
            <a:off x="7589520" y="5074920"/>
            <a:ext cx="4114800" cy="914400"/>
          </a:xfrm>
          <a:prstGeom prst="roundRect">
            <a:avLst>
              <a:gd name="adj" fmla="val 8000"/>
            </a:avLst>
          </a:prstGeom>
          <a:solidFill>
            <a:srgbClr val="FFFFFF"/>
          </a:solidFill>
          <a:ln w="12700">
            <a:solidFill>
              <a:srgbClr val="E2E8F0"/>
            </a:solidFill>
            <a:prstDash val="solid"/>
          </a:ln>
        </p:spPr>
      </p:sp>
      <p:sp>
        <p:nvSpPr>
          <p:cNvPr id="20" name="Text 18"/>
          <p:cNvSpPr/>
          <p:nvPr/>
        </p:nvSpPr>
        <p:spPr>
          <a:xfrm>
            <a:off x="7680960" y="5166360"/>
            <a:ext cx="548640" cy="73152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21" name="Text 19"/>
          <p:cNvSpPr/>
          <p:nvPr/>
        </p:nvSpPr>
        <p:spPr>
          <a:xfrm>
            <a:off x="8229600" y="5166360"/>
            <a:ext cx="3474720" cy="320040"/>
          </a:xfrm>
          <a:prstGeom prst="rect">
            <a:avLst/>
          </a:prstGeom>
          <a:noFill/>
          <a:ln/>
        </p:spPr>
        <p:txBody>
          <a:bodyPr wrap="square" rtlCol="0" anchor="ctr"/>
          <a:lstStyle/>
          <a:p>
            <a:pPr indent="0" marL="0">
              <a:buNone/>
            </a:pPr>
            <a:r>
              <a:rPr lang="en-US" sz="1200" b="1" dirty="0">
                <a:solidFill>
                  <a:srgbClr val="0F1E40"/>
                </a:solidFill>
                <a:latin typeface="Calibri" pitchFamily="34" charset="0"/>
                <a:ea typeface="Calibri" pitchFamily="34" charset="-122"/>
                <a:cs typeface="Calibri" pitchFamily="34" charset="-120"/>
              </a:rPr>
              <a:t>Báo cáo chi tiết</a:t>
            </a:r>
            <a:endParaRPr lang="en-US" sz="1200" dirty="0"/>
          </a:p>
        </p:txBody>
      </p:sp>
      <p:sp>
        <p:nvSpPr>
          <p:cNvPr id="22" name="Text 20"/>
          <p:cNvSpPr/>
          <p:nvPr/>
        </p:nvSpPr>
        <p:spPr>
          <a:xfrm>
            <a:off x="8229600" y="5486400"/>
            <a:ext cx="3474720" cy="54864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Bao nhiêu match, không match, lý do</a:t>
            </a:r>
            <a:endParaRPr lang="en-US" sz="1000" dirty="0"/>
          </a:p>
        </p:txBody>
      </p:sp>
      <p:sp>
        <p:nvSpPr>
          <p:cNvPr id="23" name="Text 21"/>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12/18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Tính năng: Cảnh báo Final khi chưa Fit-up</a:t>
            </a:r>
            <a:endParaRPr lang="en-US" sz="2600" dirty="0"/>
          </a:p>
        </p:txBody>
      </p:sp>
      <p:sp>
        <p:nvSpPr>
          <p:cNvPr id="3" name="Text 1"/>
          <p:cNvSpPr/>
          <p:nvPr/>
        </p:nvSpPr>
        <p:spPr>
          <a:xfrm>
            <a:off x="457200" y="914400"/>
            <a:ext cx="109728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Đảm bảo đúng quy trình QC: Fit-up TRƯỚC, Final SAU</a:t>
            </a:r>
            <a:endParaRPr lang="en-US" sz="1300" dirty="0"/>
          </a:p>
        </p:txBody>
      </p:sp>
      <p:sp>
        <p:nvSpPr>
          <p:cNvPr id="4" name="Shape 2"/>
          <p:cNvSpPr/>
          <p:nvPr/>
        </p:nvSpPr>
        <p:spPr>
          <a:xfrm>
            <a:off x="1828800" y="1554480"/>
            <a:ext cx="8503920" cy="3657600"/>
          </a:xfrm>
          <a:prstGeom prst="roundRect">
            <a:avLst>
              <a:gd name="adj" fmla="val 3000"/>
            </a:avLst>
          </a:prstGeom>
          <a:solidFill>
            <a:srgbClr val="FFFFFF"/>
          </a:solidFill>
          <a:ln w="25400">
            <a:solidFill>
              <a:srgbClr val="D97706"/>
            </a:solidFill>
            <a:prstDash val="solid"/>
          </a:ln>
        </p:spPr>
      </p:sp>
      <p:sp>
        <p:nvSpPr>
          <p:cNvPr id="5" name="Shape 3"/>
          <p:cNvSpPr/>
          <p:nvPr/>
        </p:nvSpPr>
        <p:spPr>
          <a:xfrm>
            <a:off x="1828800" y="1554480"/>
            <a:ext cx="8503920" cy="548640"/>
          </a:xfrm>
          <a:prstGeom prst="rect">
            <a:avLst/>
          </a:prstGeom>
          <a:solidFill>
            <a:srgbClr val="D97706"/>
          </a:solidFill>
          <a:ln/>
        </p:spPr>
      </p:sp>
      <p:sp>
        <p:nvSpPr>
          <p:cNvPr id="6" name="Text 4"/>
          <p:cNvSpPr/>
          <p:nvPr/>
        </p:nvSpPr>
        <p:spPr>
          <a:xfrm>
            <a:off x="2011680" y="1554480"/>
            <a:ext cx="82296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CẢNH BÁO — Final mà chưa Fit-up</a:t>
            </a:r>
            <a:endParaRPr lang="en-US" sz="1600" dirty="0"/>
          </a:p>
        </p:txBody>
      </p:sp>
      <p:sp>
        <p:nvSpPr>
          <p:cNvPr id="7" name="Text 5"/>
          <p:cNvSpPr/>
          <p:nvPr/>
        </p:nvSpPr>
        <p:spPr>
          <a:xfrm>
            <a:off x="2103120" y="2286000"/>
            <a:ext cx="8138160" cy="36576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Phát hiện 8 cấu kiện trong file Final này CHƯA có inspection Fit-up:</a:t>
            </a:r>
            <a:endParaRPr lang="en-US" sz="1400" dirty="0"/>
          </a:p>
        </p:txBody>
      </p:sp>
      <p:sp>
        <p:nvSpPr>
          <p:cNvPr id="8" name="Text 6"/>
          <p:cNvSpPr/>
          <p:nvPr/>
        </p:nvSpPr>
        <p:spPr>
          <a:xfrm>
            <a:off x="2468880" y="2697480"/>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JB-045-1/1</a:t>
            </a:r>
            <a:endParaRPr lang="en-US" sz="1200" dirty="0"/>
          </a:p>
        </p:txBody>
      </p:sp>
      <p:sp>
        <p:nvSpPr>
          <p:cNvPr id="9" name="Text 7"/>
          <p:cNvSpPr/>
          <p:nvPr/>
        </p:nvSpPr>
        <p:spPr>
          <a:xfrm>
            <a:off x="2468880" y="2944368"/>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JB-046-1/1</a:t>
            </a:r>
            <a:endParaRPr lang="en-US" sz="1200" dirty="0"/>
          </a:p>
        </p:txBody>
      </p:sp>
      <p:sp>
        <p:nvSpPr>
          <p:cNvPr id="10" name="Text 8"/>
          <p:cNvSpPr/>
          <p:nvPr/>
        </p:nvSpPr>
        <p:spPr>
          <a:xfrm>
            <a:off x="2468880" y="3191256"/>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TBP-012-3/32</a:t>
            </a:r>
            <a:endParaRPr lang="en-US" sz="1200" dirty="0"/>
          </a:p>
        </p:txBody>
      </p:sp>
      <p:sp>
        <p:nvSpPr>
          <p:cNvPr id="11" name="Text 9"/>
          <p:cNvSpPr/>
          <p:nvPr/>
        </p:nvSpPr>
        <p:spPr>
          <a:xfrm>
            <a:off x="2468880" y="3438144"/>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TBP-015-1/1</a:t>
            </a:r>
            <a:endParaRPr lang="en-US" sz="1200" dirty="0"/>
          </a:p>
        </p:txBody>
      </p:sp>
      <p:sp>
        <p:nvSpPr>
          <p:cNvPr id="12" name="Text 10"/>
          <p:cNvSpPr/>
          <p:nvPr/>
        </p:nvSpPr>
        <p:spPr>
          <a:xfrm>
            <a:off x="2468880" y="3685032"/>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GT-022-2/2</a:t>
            </a:r>
            <a:endParaRPr lang="en-US" sz="1200" dirty="0"/>
          </a:p>
        </p:txBody>
      </p:sp>
      <p:sp>
        <p:nvSpPr>
          <p:cNvPr id="13" name="Text 11"/>
          <p:cNvSpPr/>
          <p:nvPr/>
        </p:nvSpPr>
        <p:spPr>
          <a:xfrm>
            <a:off x="2468880" y="3931920"/>
            <a:ext cx="7772400" cy="2468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2286000" y="4480560"/>
            <a:ext cx="3200400" cy="548640"/>
          </a:xfrm>
          <a:prstGeom prst="roundRect">
            <a:avLst>
              <a:gd name="adj" fmla="val 8333"/>
            </a:avLst>
          </a:prstGeom>
          <a:solidFill>
            <a:srgbClr val="D97706"/>
          </a:solidFill>
          <a:ln/>
        </p:spPr>
      </p:sp>
      <p:sp>
        <p:nvSpPr>
          <p:cNvPr id="15" name="Text 13"/>
          <p:cNvSpPr/>
          <p:nvPr/>
        </p:nvSpPr>
        <p:spPr>
          <a:xfrm>
            <a:off x="2286000" y="4480560"/>
            <a:ext cx="3200400"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Vẫn import (chấp nhận rủi ro)</a:t>
            </a:r>
            <a:endParaRPr lang="en-US" sz="1200" dirty="0"/>
          </a:p>
        </p:txBody>
      </p:sp>
      <p:sp>
        <p:nvSpPr>
          <p:cNvPr id="16" name="Shape 14"/>
          <p:cNvSpPr/>
          <p:nvPr/>
        </p:nvSpPr>
        <p:spPr>
          <a:xfrm>
            <a:off x="6858000" y="4480560"/>
            <a:ext cx="2743200" cy="548640"/>
          </a:xfrm>
          <a:prstGeom prst="roundRect">
            <a:avLst>
              <a:gd name="adj" fmla="val 8333"/>
            </a:avLst>
          </a:prstGeom>
          <a:solidFill>
            <a:srgbClr val="FFFFFF"/>
          </a:solidFill>
          <a:ln w="19050">
            <a:solidFill>
              <a:srgbClr val="0F1E40"/>
            </a:solidFill>
            <a:prstDash val="solid"/>
          </a:ln>
        </p:spPr>
      </p:sp>
      <p:sp>
        <p:nvSpPr>
          <p:cNvPr id="17" name="Text 15"/>
          <p:cNvSpPr/>
          <p:nvPr/>
        </p:nvSpPr>
        <p:spPr>
          <a:xfrm>
            <a:off x="6858000" y="4480560"/>
            <a:ext cx="2743200" cy="548640"/>
          </a:xfrm>
          <a:prstGeom prst="rect">
            <a:avLst/>
          </a:prstGeom>
          <a:noFill/>
          <a:ln/>
        </p:spPr>
        <p:txBody>
          <a:bodyPr wrap="square" rtlCol="0" anchor="ctr"/>
          <a:lstStyle/>
          <a:p>
            <a:pPr algn="ctr" indent="0" marL="0">
              <a:buNone/>
            </a:pPr>
            <a:r>
              <a:rPr lang="en-US" sz="1200" b="1" dirty="0">
                <a:solidFill>
                  <a:srgbClr val="0F1E40"/>
                </a:solidFill>
                <a:latin typeface="Calibri" pitchFamily="34" charset="0"/>
                <a:ea typeface="Calibri" pitchFamily="34" charset="-122"/>
                <a:cs typeface="Calibri" pitchFamily="34" charset="-120"/>
              </a:rPr>
              <a:t>Huỷ</a:t>
            </a:r>
            <a:endParaRPr lang="en-US" sz="1200" dirty="0"/>
          </a:p>
        </p:txBody>
      </p:sp>
      <p:sp>
        <p:nvSpPr>
          <p:cNvPr id="18" name="Text 16"/>
          <p:cNvSpPr/>
          <p:nvPr/>
        </p:nvSpPr>
        <p:spPr>
          <a:xfrm>
            <a:off x="457200" y="5852160"/>
            <a:ext cx="10972800" cy="365760"/>
          </a:xfrm>
          <a:prstGeom prst="rect">
            <a:avLst/>
          </a:prstGeom>
          <a:noFill/>
          <a:ln/>
        </p:spPr>
        <p:txBody>
          <a:bodyPr wrap="square"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 AE QC vẫn có quyền chấp nhận rủi ro, nhưng app đã cảnh báo &amp; ghi log.</a:t>
            </a:r>
            <a:endParaRPr lang="en-US" sz="1400" dirty="0"/>
          </a:p>
        </p:txBody>
      </p:sp>
      <p:sp>
        <p:nvSpPr>
          <p:cNvPr id="19" name="Text 17"/>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13/18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Bước 3: Bảng Cấu kiện — tra cứu &amp; inline edit</a:t>
            </a:r>
            <a:endParaRPr lang="en-US" sz="2600" dirty="0"/>
          </a:p>
        </p:txBody>
      </p:sp>
      <p:sp>
        <p:nvSpPr>
          <p:cNvPr id="3" name="Text 1"/>
          <p:cNvSpPr/>
          <p:nvPr/>
        </p:nvSpPr>
        <p:spPr>
          <a:xfrm>
            <a:off x="457200" y="914400"/>
            <a:ext cx="1124712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Trang quan trọng nhất — tra cứu tình trạng từng cấu kiện, lọc theo nhiều tiêu chí</a:t>
            </a:r>
            <a:endParaRPr lang="en-US" sz="1300" dirty="0"/>
          </a:p>
        </p:txBody>
      </p:sp>
      <p:sp>
        <p:nvSpPr>
          <p:cNvPr id="4" name="Shape 2"/>
          <p:cNvSpPr/>
          <p:nvPr/>
        </p:nvSpPr>
        <p:spPr>
          <a:xfrm>
            <a:off x="457200" y="1463040"/>
            <a:ext cx="11247120" cy="3657600"/>
          </a:xfrm>
          <a:prstGeom prst="rect">
            <a:avLst>
              <a:gd name="adj" fmla="val 2000"/>
            </a:avLst>
          </a:prstGeom>
          <a:solidFill>
            <a:srgbClr val="EFF1F5"/>
          </a:solidFill>
          <a:ln w="12700">
            <a:solidFill>
              <a:srgbClr val="CBD5E1"/>
            </a:solidFill>
            <a:prstDash val="dash"/>
          </a:ln>
        </p:spPr>
      </p:sp>
      <p:sp>
        <p:nvSpPr>
          <p:cNvPr id="5" name="Text 3"/>
          <p:cNvSpPr/>
          <p:nvPr/>
        </p:nvSpPr>
        <p:spPr>
          <a:xfrm>
            <a:off x="457200" y="1463040"/>
            <a:ext cx="11247120" cy="365760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06_cau_kien_bang.png — Bảng 8 cột với Fit-up + Final]</a:t>
            </a:r>
            <a:endParaRPr lang="en-US" sz="2400" dirty="0"/>
          </a:p>
        </p:txBody>
      </p:sp>
      <p:sp>
        <p:nvSpPr>
          <p:cNvPr id="6" name="Shape 4"/>
          <p:cNvSpPr/>
          <p:nvPr/>
        </p:nvSpPr>
        <p:spPr>
          <a:xfrm>
            <a:off x="457200" y="5349240"/>
            <a:ext cx="1371600" cy="457200"/>
          </a:xfrm>
          <a:prstGeom prst="roundRect">
            <a:avLst>
              <a:gd name="adj" fmla="val 10000"/>
            </a:avLst>
          </a:prstGeom>
          <a:solidFill>
            <a:srgbClr val="0F1E40"/>
          </a:solidFill>
          <a:ln/>
        </p:spPr>
      </p:sp>
      <p:sp>
        <p:nvSpPr>
          <p:cNvPr id="7" name="Text 5"/>
          <p:cNvSpPr/>
          <p:nvPr/>
        </p:nvSpPr>
        <p:spPr>
          <a:xfrm>
            <a:off x="45720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Tên cấu kiện</a:t>
            </a:r>
            <a:endParaRPr lang="en-US" sz="1000" dirty="0"/>
          </a:p>
        </p:txBody>
      </p:sp>
      <p:sp>
        <p:nvSpPr>
          <p:cNvPr id="8" name="Shape 6"/>
          <p:cNvSpPr/>
          <p:nvPr/>
        </p:nvSpPr>
        <p:spPr>
          <a:xfrm>
            <a:off x="1874520" y="5349240"/>
            <a:ext cx="1371600" cy="457200"/>
          </a:xfrm>
          <a:prstGeom prst="roundRect">
            <a:avLst>
              <a:gd name="adj" fmla="val 10000"/>
            </a:avLst>
          </a:prstGeom>
          <a:solidFill>
            <a:srgbClr val="0F1E40"/>
          </a:solidFill>
          <a:ln/>
        </p:spPr>
      </p:sp>
      <p:sp>
        <p:nvSpPr>
          <p:cNvPr id="9" name="Text 7"/>
          <p:cNvSpPr/>
          <p:nvPr/>
        </p:nvSpPr>
        <p:spPr>
          <a:xfrm>
            <a:off x="187452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Bản vẽ</a:t>
            </a:r>
            <a:endParaRPr lang="en-US" sz="1000" dirty="0"/>
          </a:p>
        </p:txBody>
      </p:sp>
      <p:sp>
        <p:nvSpPr>
          <p:cNvPr id="10" name="Shape 8"/>
          <p:cNvSpPr/>
          <p:nvPr/>
        </p:nvSpPr>
        <p:spPr>
          <a:xfrm>
            <a:off x="3291840" y="5349240"/>
            <a:ext cx="1371600" cy="457200"/>
          </a:xfrm>
          <a:prstGeom prst="roundRect">
            <a:avLst>
              <a:gd name="adj" fmla="val 10000"/>
            </a:avLst>
          </a:prstGeom>
          <a:solidFill>
            <a:srgbClr val="0F1E40"/>
          </a:solidFill>
          <a:ln/>
        </p:spPr>
      </p:sp>
      <p:sp>
        <p:nvSpPr>
          <p:cNvPr id="11" name="Text 9"/>
          <p:cNvSpPr/>
          <p:nvPr/>
        </p:nvSpPr>
        <p:spPr>
          <a:xfrm>
            <a:off x="329184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Revision</a:t>
            </a:r>
            <a:endParaRPr lang="en-US" sz="1000" dirty="0"/>
          </a:p>
        </p:txBody>
      </p:sp>
      <p:sp>
        <p:nvSpPr>
          <p:cNvPr id="12" name="Shape 10"/>
          <p:cNvSpPr/>
          <p:nvPr/>
        </p:nvSpPr>
        <p:spPr>
          <a:xfrm>
            <a:off x="4709160" y="5349240"/>
            <a:ext cx="1371600" cy="457200"/>
          </a:xfrm>
          <a:prstGeom prst="roundRect">
            <a:avLst>
              <a:gd name="adj" fmla="val 10000"/>
            </a:avLst>
          </a:prstGeom>
          <a:solidFill>
            <a:srgbClr val="0F1E40"/>
          </a:solidFill>
          <a:ln/>
        </p:spPr>
      </p:sp>
      <p:sp>
        <p:nvSpPr>
          <p:cNvPr id="13" name="Text 11"/>
          <p:cNvSpPr/>
          <p:nvPr/>
        </p:nvSpPr>
        <p:spPr>
          <a:xfrm>
            <a:off x="470916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Xưởng</a:t>
            </a:r>
            <a:endParaRPr lang="en-US" sz="1000" dirty="0"/>
          </a:p>
        </p:txBody>
      </p:sp>
      <p:sp>
        <p:nvSpPr>
          <p:cNvPr id="14" name="Shape 12"/>
          <p:cNvSpPr/>
          <p:nvPr/>
        </p:nvSpPr>
        <p:spPr>
          <a:xfrm>
            <a:off x="6126480" y="5349240"/>
            <a:ext cx="1371600" cy="457200"/>
          </a:xfrm>
          <a:prstGeom prst="roundRect">
            <a:avLst>
              <a:gd name="adj" fmla="val 10000"/>
            </a:avLst>
          </a:prstGeom>
          <a:solidFill>
            <a:srgbClr val="0F1E40"/>
          </a:solidFill>
          <a:ln/>
        </p:spPr>
      </p:sp>
      <p:sp>
        <p:nvSpPr>
          <p:cNvPr id="15" name="Text 13"/>
          <p:cNvSpPr/>
          <p:nvPr/>
        </p:nvSpPr>
        <p:spPr>
          <a:xfrm>
            <a:off x="612648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Fit-up</a:t>
            </a:r>
            <a:endParaRPr lang="en-US" sz="1000" dirty="0"/>
          </a:p>
        </p:txBody>
      </p:sp>
      <p:sp>
        <p:nvSpPr>
          <p:cNvPr id="16" name="Shape 14"/>
          <p:cNvSpPr/>
          <p:nvPr/>
        </p:nvSpPr>
        <p:spPr>
          <a:xfrm>
            <a:off x="7543800" y="5349240"/>
            <a:ext cx="1371600" cy="457200"/>
          </a:xfrm>
          <a:prstGeom prst="roundRect">
            <a:avLst>
              <a:gd name="adj" fmla="val 10000"/>
            </a:avLst>
          </a:prstGeom>
          <a:solidFill>
            <a:srgbClr val="0F1E40"/>
          </a:solidFill>
          <a:ln/>
        </p:spPr>
      </p:sp>
      <p:sp>
        <p:nvSpPr>
          <p:cNvPr id="17" name="Text 15"/>
          <p:cNvSpPr/>
          <p:nvPr/>
        </p:nvSpPr>
        <p:spPr>
          <a:xfrm>
            <a:off x="754380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Ngày Fit-up</a:t>
            </a:r>
            <a:endParaRPr lang="en-US" sz="1000" dirty="0"/>
          </a:p>
        </p:txBody>
      </p:sp>
      <p:sp>
        <p:nvSpPr>
          <p:cNvPr id="18" name="Shape 16"/>
          <p:cNvSpPr/>
          <p:nvPr/>
        </p:nvSpPr>
        <p:spPr>
          <a:xfrm>
            <a:off x="8961120" y="5349240"/>
            <a:ext cx="1371600" cy="457200"/>
          </a:xfrm>
          <a:prstGeom prst="roundRect">
            <a:avLst>
              <a:gd name="adj" fmla="val 10000"/>
            </a:avLst>
          </a:prstGeom>
          <a:solidFill>
            <a:srgbClr val="0F1E40"/>
          </a:solidFill>
          <a:ln/>
        </p:spPr>
      </p:sp>
      <p:sp>
        <p:nvSpPr>
          <p:cNvPr id="19" name="Text 17"/>
          <p:cNvSpPr/>
          <p:nvPr/>
        </p:nvSpPr>
        <p:spPr>
          <a:xfrm>
            <a:off x="896112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Final</a:t>
            </a:r>
            <a:endParaRPr lang="en-US" sz="1000" dirty="0"/>
          </a:p>
        </p:txBody>
      </p:sp>
      <p:sp>
        <p:nvSpPr>
          <p:cNvPr id="20" name="Shape 18"/>
          <p:cNvSpPr/>
          <p:nvPr/>
        </p:nvSpPr>
        <p:spPr>
          <a:xfrm>
            <a:off x="10378440" y="5349240"/>
            <a:ext cx="1371600" cy="457200"/>
          </a:xfrm>
          <a:prstGeom prst="roundRect">
            <a:avLst>
              <a:gd name="adj" fmla="val 10000"/>
            </a:avLst>
          </a:prstGeom>
          <a:solidFill>
            <a:srgbClr val="0F1E40"/>
          </a:solidFill>
          <a:ln/>
        </p:spPr>
      </p:sp>
      <p:sp>
        <p:nvSpPr>
          <p:cNvPr id="21" name="Text 19"/>
          <p:cNvSpPr/>
          <p:nvPr/>
        </p:nvSpPr>
        <p:spPr>
          <a:xfrm>
            <a:off x="10378440" y="5349240"/>
            <a:ext cx="1371600" cy="457200"/>
          </a:xfrm>
          <a:prstGeom prst="rect">
            <a:avLst/>
          </a:prstGeom>
          <a:noFill/>
          <a:ln/>
        </p:spPr>
        <p:txBody>
          <a:bodyPr wrap="square" rtlCol="0" anchor="ctr"/>
          <a:lstStyle/>
          <a:p>
            <a:pPr algn="ctr" indent="0" marL="0">
              <a:buNone/>
            </a:pPr>
            <a:r>
              <a:rPr lang="en-US" sz="1000" b="1" dirty="0">
                <a:solidFill>
                  <a:srgbClr val="D4A744"/>
                </a:solidFill>
                <a:latin typeface="Calibri" pitchFamily="34" charset="0"/>
                <a:ea typeface="Calibri" pitchFamily="34" charset="-122"/>
                <a:cs typeface="Calibri" pitchFamily="34" charset="-120"/>
              </a:rPr>
              <a:t>Ngày Final</a:t>
            </a:r>
            <a:endParaRPr lang="en-US" sz="1000" dirty="0"/>
          </a:p>
        </p:txBody>
      </p:sp>
      <p:sp>
        <p:nvSpPr>
          <p:cNvPr id="22" name="Text 20"/>
          <p:cNvSpPr/>
          <p:nvPr/>
        </p:nvSpPr>
        <p:spPr>
          <a:xfrm>
            <a:off x="457200" y="5943600"/>
            <a:ext cx="11247120" cy="45720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  Có thể inline edit Bản vẽ / Revision / Xưởng — click thẳng vào ô để sửa. Fit-up + Final tự cập nhật từ Daily Import.</a:t>
            </a:r>
            <a:endParaRPr lang="en-US" sz="1200" dirty="0"/>
          </a:p>
        </p:txBody>
      </p:sp>
      <p:sp>
        <p:nvSpPr>
          <p:cNvPr id="23" name="Text 21"/>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14/18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Filter nâng cao — lọc cột theo Zone/Xưởng/Type/...</a:t>
            </a:r>
            <a:endParaRPr lang="en-US" sz="2600" dirty="0"/>
          </a:p>
        </p:txBody>
      </p:sp>
      <p:sp>
        <p:nvSpPr>
          <p:cNvPr id="3" name="Text 1"/>
          <p:cNvSpPr/>
          <p:nvPr/>
        </p:nvSpPr>
        <p:spPr>
          <a:xfrm>
            <a:off x="457200" y="914400"/>
            <a:ext cx="1124712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Bật toggle 'Lọc cột' → chọn dropdown Excel-style cho 5 cột: Zone, Phase, Material, Xưởng, Type</a:t>
            </a:r>
            <a:endParaRPr lang="en-US" sz="1300" dirty="0"/>
          </a:p>
        </p:txBody>
      </p:sp>
      <p:sp>
        <p:nvSpPr>
          <p:cNvPr id="4" name="Shape 2"/>
          <p:cNvSpPr/>
          <p:nvPr/>
        </p:nvSpPr>
        <p:spPr>
          <a:xfrm>
            <a:off x="457200" y="1463040"/>
            <a:ext cx="7315200" cy="4754880"/>
          </a:xfrm>
          <a:prstGeom prst="rect">
            <a:avLst>
              <a:gd name="adj" fmla="val 1538"/>
            </a:avLst>
          </a:prstGeom>
          <a:solidFill>
            <a:srgbClr val="EFF1F5"/>
          </a:solidFill>
          <a:ln w="12700">
            <a:solidFill>
              <a:srgbClr val="CBD5E1"/>
            </a:solidFill>
            <a:prstDash val="dash"/>
          </a:ln>
        </p:spPr>
      </p:sp>
      <p:sp>
        <p:nvSpPr>
          <p:cNvPr id="5" name="Text 3"/>
          <p:cNvSpPr/>
          <p:nvPr/>
        </p:nvSpPr>
        <p:spPr>
          <a:xfrm>
            <a:off x="457200" y="1463040"/>
            <a:ext cx="7315200" cy="475488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07_cau_kien_loc.png — Bảng đã filter theo xưởng AH6]</a:t>
            </a:r>
            <a:endParaRPr lang="en-US" sz="2400" dirty="0"/>
          </a:p>
        </p:txBody>
      </p:sp>
      <p:sp>
        <p:nvSpPr>
          <p:cNvPr id="6" name="Text 4"/>
          <p:cNvSpPr/>
          <p:nvPr/>
        </p:nvSpPr>
        <p:spPr>
          <a:xfrm>
            <a:off x="8046720" y="1463040"/>
            <a:ext cx="3657600" cy="365760"/>
          </a:xfrm>
          <a:prstGeom prst="rect">
            <a:avLst/>
          </a:prstGeom>
          <a:noFill/>
          <a:ln/>
        </p:spPr>
        <p:txBody>
          <a:bodyPr wrap="square" rtlCol="0" anchor="ctr"/>
          <a:lstStyle/>
          <a:p>
            <a:pPr indent="0" marL="0">
              <a:buNone/>
            </a:pPr>
            <a:r>
              <a:rPr lang="en-US" sz="1600" b="1" dirty="0">
                <a:solidFill>
                  <a:srgbClr val="0F1E40"/>
                </a:solidFill>
                <a:latin typeface="Calibri" pitchFamily="34" charset="0"/>
                <a:ea typeface="Calibri" pitchFamily="34" charset="-122"/>
                <a:cs typeface="Calibri" pitchFamily="34" charset="-120"/>
              </a:rPr>
              <a:t>Ví dụ tình huống dùng</a:t>
            </a:r>
            <a:endParaRPr lang="en-US" sz="1600" dirty="0"/>
          </a:p>
        </p:txBody>
      </p:sp>
      <p:sp>
        <p:nvSpPr>
          <p:cNvPr id="7" name="Shape 5"/>
          <p:cNvSpPr/>
          <p:nvPr/>
        </p:nvSpPr>
        <p:spPr>
          <a:xfrm>
            <a:off x="8046720" y="2011680"/>
            <a:ext cx="3657600" cy="1280160"/>
          </a:xfrm>
          <a:prstGeom prst="roundRect">
            <a:avLst>
              <a:gd name="adj" fmla="val 5714"/>
            </a:avLst>
          </a:prstGeom>
          <a:solidFill>
            <a:srgbClr val="FFFFFF"/>
          </a:solidFill>
          <a:ln w="19050">
            <a:solidFill>
              <a:srgbClr val="D4A744"/>
            </a:solidFill>
            <a:prstDash val="solid"/>
          </a:ln>
        </p:spPr>
      </p:sp>
      <p:sp>
        <p:nvSpPr>
          <p:cNvPr id="8" name="Text 6"/>
          <p:cNvSpPr/>
          <p:nvPr/>
        </p:nvSpPr>
        <p:spPr>
          <a:xfrm>
            <a:off x="8229600" y="2148840"/>
            <a:ext cx="3291840" cy="274320"/>
          </a:xfrm>
          <a:prstGeom prst="rect">
            <a:avLst/>
          </a:prstGeom>
          <a:noFill/>
          <a:ln/>
        </p:spPr>
        <p:txBody>
          <a:bodyPr wrap="square" rtlCol="0" anchor="ctr"/>
          <a:lstStyle/>
          <a:p>
            <a:pPr indent="0" marL="0">
              <a:buNone/>
            </a:pPr>
            <a:r>
              <a:rPr lang="en-US" sz="1100" b="1" dirty="0">
                <a:solidFill>
                  <a:srgbClr val="D4A744"/>
                </a:solidFill>
                <a:latin typeface="Calibri" pitchFamily="34" charset="0"/>
                <a:ea typeface="Calibri" pitchFamily="34" charset="-122"/>
                <a:cs typeface="Calibri" pitchFamily="34" charset="-120"/>
              </a:rPr>
              <a:t>Tình huống 1</a:t>
            </a:r>
            <a:endParaRPr lang="en-US" sz="1100" dirty="0"/>
          </a:p>
        </p:txBody>
      </p:sp>
      <p:sp>
        <p:nvSpPr>
          <p:cNvPr id="9" name="Text 7"/>
          <p:cNvSpPr/>
          <p:nvPr/>
        </p:nvSpPr>
        <p:spPr>
          <a:xfrm>
            <a:off x="8229600" y="2468880"/>
            <a:ext cx="3291840" cy="82296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Tìm cấu kiện chưa Final của xưởng AH6 → lọc Xưởng=AH6 + Trạng thái=Đã Fit-up</a:t>
            </a:r>
            <a:endParaRPr lang="en-US" sz="1100" dirty="0"/>
          </a:p>
        </p:txBody>
      </p:sp>
      <p:sp>
        <p:nvSpPr>
          <p:cNvPr id="10" name="Shape 8"/>
          <p:cNvSpPr/>
          <p:nvPr/>
        </p:nvSpPr>
        <p:spPr>
          <a:xfrm>
            <a:off x="8046720" y="3429000"/>
            <a:ext cx="3657600" cy="1280160"/>
          </a:xfrm>
          <a:prstGeom prst="roundRect">
            <a:avLst>
              <a:gd name="adj" fmla="val 5714"/>
            </a:avLst>
          </a:prstGeom>
          <a:solidFill>
            <a:srgbClr val="FFFFFF"/>
          </a:solidFill>
          <a:ln w="19050">
            <a:solidFill>
              <a:srgbClr val="D4A744"/>
            </a:solidFill>
            <a:prstDash val="solid"/>
          </a:ln>
        </p:spPr>
      </p:sp>
      <p:sp>
        <p:nvSpPr>
          <p:cNvPr id="11" name="Text 9"/>
          <p:cNvSpPr/>
          <p:nvPr/>
        </p:nvSpPr>
        <p:spPr>
          <a:xfrm>
            <a:off x="8229600" y="3566160"/>
            <a:ext cx="3291840" cy="274320"/>
          </a:xfrm>
          <a:prstGeom prst="rect">
            <a:avLst/>
          </a:prstGeom>
          <a:noFill/>
          <a:ln/>
        </p:spPr>
        <p:txBody>
          <a:bodyPr wrap="square" rtlCol="0" anchor="ctr"/>
          <a:lstStyle/>
          <a:p>
            <a:pPr indent="0" marL="0">
              <a:buNone/>
            </a:pPr>
            <a:r>
              <a:rPr lang="en-US" sz="1100" b="1" dirty="0">
                <a:solidFill>
                  <a:srgbClr val="D4A744"/>
                </a:solidFill>
                <a:latin typeface="Calibri" pitchFamily="34" charset="0"/>
                <a:ea typeface="Calibri" pitchFamily="34" charset="-122"/>
                <a:cs typeface="Calibri" pitchFamily="34" charset="-120"/>
              </a:rPr>
              <a:t>Tình huống 2</a:t>
            </a:r>
            <a:endParaRPr lang="en-US" sz="1100" dirty="0"/>
          </a:p>
        </p:txBody>
      </p:sp>
      <p:sp>
        <p:nvSpPr>
          <p:cNvPr id="12" name="Text 10"/>
          <p:cNvSpPr/>
          <p:nvPr/>
        </p:nvSpPr>
        <p:spPr>
          <a:xfrm>
            <a:off x="8229600" y="3886200"/>
            <a:ext cx="3291840" cy="82296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Tìm dầm chính cần kiểm tra lại → lọc Type=BEAM</a:t>
            </a:r>
            <a:endParaRPr lang="en-US" sz="1100" dirty="0"/>
          </a:p>
        </p:txBody>
      </p:sp>
      <p:sp>
        <p:nvSpPr>
          <p:cNvPr id="13" name="Shape 11"/>
          <p:cNvSpPr/>
          <p:nvPr/>
        </p:nvSpPr>
        <p:spPr>
          <a:xfrm>
            <a:off x="8046720" y="4846320"/>
            <a:ext cx="3657600" cy="1280160"/>
          </a:xfrm>
          <a:prstGeom prst="roundRect">
            <a:avLst>
              <a:gd name="adj" fmla="val 5714"/>
            </a:avLst>
          </a:prstGeom>
          <a:solidFill>
            <a:srgbClr val="FFFFFF"/>
          </a:solidFill>
          <a:ln w="19050">
            <a:solidFill>
              <a:srgbClr val="D4A744"/>
            </a:solidFill>
            <a:prstDash val="solid"/>
          </a:ln>
        </p:spPr>
      </p:sp>
      <p:sp>
        <p:nvSpPr>
          <p:cNvPr id="14" name="Text 12"/>
          <p:cNvSpPr/>
          <p:nvPr/>
        </p:nvSpPr>
        <p:spPr>
          <a:xfrm>
            <a:off x="8229600" y="4983480"/>
            <a:ext cx="3291840" cy="274320"/>
          </a:xfrm>
          <a:prstGeom prst="rect">
            <a:avLst/>
          </a:prstGeom>
          <a:noFill/>
          <a:ln/>
        </p:spPr>
        <p:txBody>
          <a:bodyPr wrap="square" rtlCol="0" anchor="ctr"/>
          <a:lstStyle/>
          <a:p>
            <a:pPr indent="0" marL="0">
              <a:buNone/>
            </a:pPr>
            <a:r>
              <a:rPr lang="en-US" sz="1100" b="1" dirty="0">
                <a:solidFill>
                  <a:srgbClr val="D4A744"/>
                </a:solidFill>
                <a:latin typeface="Calibri" pitchFamily="34" charset="0"/>
                <a:ea typeface="Calibri" pitchFamily="34" charset="-122"/>
                <a:cs typeface="Calibri" pitchFamily="34" charset="-120"/>
              </a:rPr>
              <a:t>Tình huống 3</a:t>
            </a:r>
            <a:endParaRPr lang="en-US" sz="1100" dirty="0"/>
          </a:p>
        </p:txBody>
      </p:sp>
      <p:sp>
        <p:nvSpPr>
          <p:cNvPr id="15" name="Text 13"/>
          <p:cNvSpPr/>
          <p:nvPr/>
        </p:nvSpPr>
        <p:spPr>
          <a:xfrm>
            <a:off x="8229600" y="5303520"/>
            <a:ext cx="3291840" cy="82296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Báo cáo zone 1.3 → lọc Zone=1.3</a:t>
            </a:r>
            <a:endParaRPr lang="en-US" sz="1100" dirty="0"/>
          </a:p>
        </p:txBody>
      </p:sp>
      <p:sp>
        <p:nvSpPr>
          <p:cNvPr id="16" name="Text 14"/>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15/18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rtlCol="0" anchor="ctr"/>
          <a:lstStyle/>
          <a:p>
            <a:pPr indent="0" marL="0">
              <a:buNone/>
            </a:pPr>
            <a:r>
              <a:rPr lang="en-US" sz="2600" b="1" dirty="0">
                <a:solidFill>
                  <a:srgbClr val="0F1E40"/>
                </a:solidFill>
                <a:latin typeface="Calibri" pitchFamily="34" charset="0"/>
                <a:ea typeface="Calibri" pitchFamily="34" charset="-122"/>
                <a:cs typeface="Calibri" pitchFamily="34" charset="-120"/>
              </a:rPr>
              <a:t>Báo cáo — Export Excel cho sếp &amp; BPM</a:t>
            </a:r>
            <a:endParaRPr lang="en-US" sz="2600" dirty="0"/>
          </a:p>
        </p:txBody>
      </p:sp>
      <p:sp>
        <p:nvSpPr>
          <p:cNvPr id="3" name="Text 1"/>
          <p:cNvSpPr/>
          <p:nvPr/>
        </p:nvSpPr>
        <p:spPr>
          <a:xfrm>
            <a:off x="457200" y="914400"/>
            <a:ext cx="109728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Tổng hợp tự động — biểu đồ tuần / xưởng / xuất Excel chuẩn</a:t>
            </a:r>
            <a:endParaRPr lang="en-US" sz="1300" dirty="0"/>
          </a:p>
        </p:txBody>
      </p:sp>
      <p:sp>
        <p:nvSpPr>
          <p:cNvPr id="4" name="Shape 2"/>
          <p:cNvSpPr/>
          <p:nvPr/>
        </p:nvSpPr>
        <p:spPr>
          <a:xfrm>
            <a:off x="457200" y="1463040"/>
            <a:ext cx="11247120" cy="4114800"/>
          </a:xfrm>
          <a:prstGeom prst="rect">
            <a:avLst>
              <a:gd name="adj" fmla="val 1778"/>
            </a:avLst>
          </a:prstGeom>
          <a:solidFill>
            <a:srgbClr val="EFF1F5"/>
          </a:solidFill>
          <a:ln w="12700">
            <a:solidFill>
              <a:srgbClr val="CBD5E1"/>
            </a:solidFill>
            <a:prstDash val="dash"/>
          </a:ln>
        </p:spPr>
      </p:sp>
      <p:sp>
        <p:nvSpPr>
          <p:cNvPr id="5" name="Text 3"/>
          <p:cNvSpPr/>
          <p:nvPr/>
        </p:nvSpPr>
        <p:spPr>
          <a:xfrm>
            <a:off x="457200" y="1463040"/>
            <a:ext cx="11247120" cy="4114800"/>
          </a:xfrm>
          <a:prstGeom prst="rect">
            <a:avLst/>
          </a:prstGeom>
          <a:noFill/>
          <a:ln/>
        </p:spPr>
        <p:txBody>
          <a:bodyPr wrap="square" rtlCol="0" anchor="ctr"/>
          <a:lstStyle/>
          <a:p>
            <a:pPr algn="ctr" indent="0" marL="0">
              <a:buNone/>
            </a:pPr>
            <a:r>
              <a:rPr lang="en-US" sz="2400" dirty="0">
                <a:solidFill>
                  <a:srgbClr val="000000"/>
                </a:solidFill>
              </a:rPr>
              <a:t>📷  </a:t>
            </a:r>
            <a:pPr algn="ctr" indent="0" marL="0">
              <a:buNone/>
            </a:pPr>
            <a:r>
              <a:rPr lang="en-US" sz="1400" i="1" dirty="0">
                <a:solidFill>
                  <a:srgbClr val="64748B"/>
                </a:solidFill>
              </a:rPr>
              <a:t>[Chèn ảnh: 08_bao_cao.png — Trang Báo cáo với biểu đồ]</a:t>
            </a:r>
            <a:endParaRPr lang="en-US" sz="2400" dirty="0"/>
          </a:p>
        </p:txBody>
      </p:sp>
      <p:sp>
        <p:nvSpPr>
          <p:cNvPr id="6" name="Shape 4"/>
          <p:cNvSpPr/>
          <p:nvPr/>
        </p:nvSpPr>
        <p:spPr>
          <a:xfrm>
            <a:off x="457200" y="5760720"/>
            <a:ext cx="2743200" cy="502920"/>
          </a:xfrm>
          <a:prstGeom prst="roundRect">
            <a:avLst>
              <a:gd name="adj" fmla="val 9091"/>
            </a:avLst>
          </a:prstGeom>
          <a:solidFill>
            <a:srgbClr val="0F1E40"/>
          </a:solidFill>
          <a:ln/>
        </p:spPr>
      </p:sp>
      <p:sp>
        <p:nvSpPr>
          <p:cNvPr id="7" name="Text 5"/>
          <p:cNvSpPr/>
          <p:nvPr/>
        </p:nvSpPr>
        <p:spPr>
          <a:xfrm>
            <a:off x="457200" y="5760720"/>
            <a:ext cx="274320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Tổng hợp dự án  ·  Tất cả cấu kiện + trạng thái</a:t>
            </a:r>
            <a:endParaRPr lang="en-US" sz="1000" dirty="0"/>
          </a:p>
        </p:txBody>
      </p:sp>
      <p:sp>
        <p:nvSpPr>
          <p:cNvPr id="8" name="Shape 6"/>
          <p:cNvSpPr/>
          <p:nvPr/>
        </p:nvSpPr>
        <p:spPr>
          <a:xfrm>
            <a:off x="3246120" y="5760720"/>
            <a:ext cx="2743200" cy="502920"/>
          </a:xfrm>
          <a:prstGeom prst="roundRect">
            <a:avLst>
              <a:gd name="adj" fmla="val 9091"/>
            </a:avLst>
          </a:prstGeom>
          <a:solidFill>
            <a:srgbClr val="0F1E40"/>
          </a:solidFill>
          <a:ln/>
        </p:spPr>
      </p:sp>
      <p:sp>
        <p:nvSpPr>
          <p:cNvPr id="9" name="Text 7"/>
          <p:cNvSpPr/>
          <p:nvPr/>
        </p:nvSpPr>
        <p:spPr>
          <a:xfrm>
            <a:off x="3246120" y="5760720"/>
            <a:ext cx="274320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Theo xưởng  ·  AH6, AH9, ... · % hoàn thành</a:t>
            </a:r>
            <a:endParaRPr lang="en-US" sz="1000" dirty="0"/>
          </a:p>
        </p:txBody>
      </p:sp>
      <p:sp>
        <p:nvSpPr>
          <p:cNvPr id="10" name="Shape 8"/>
          <p:cNvSpPr/>
          <p:nvPr/>
        </p:nvSpPr>
        <p:spPr>
          <a:xfrm>
            <a:off x="6035040" y="5760720"/>
            <a:ext cx="2743200" cy="502920"/>
          </a:xfrm>
          <a:prstGeom prst="roundRect">
            <a:avLst>
              <a:gd name="adj" fmla="val 9091"/>
            </a:avLst>
          </a:prstGeom>
          <a:solidFill>
            <a:srgbClr val="0F1E40"/>
          </a:solidFill>
          <a:ln/>
        </p:spPr>
      </p:sp>
      <p:sp>
        <p:nvSpPr>
          <p:cNvPr id="11" name="Text 9"/>
          <p:cNvSpPr/>
          <p:nvPr/>
        </p:nvSpPr>
        <p:spPr>
          <a:xfrm>
            <a:off x="6035040" y="5760720"/>
            <a:ext cx="274320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Theo tuần  ·  Số cấu kiện NT từng tuần</a:t>
            </a:r>
            <a:endParaRPr lang="en-US" sz="1000" dirty="0"/>
          </a:p>
        </p:txBody>
      </p:sp>
      <p:sp>
        <p:nvSpPr>
          <p:cNvPr id="12" name="Shape 10"/>
          <p:cNvSpPr/>
          <p:nvPr/>
        </p:nvSpPr>
        <p:spPr>
          <a:xfrm>
            <a:off x="8823960" y="5760720"/>
            <a:ext cx="2743200" cy="502920"/>
          </a:xfrm>
          <a:prstGeom prst="roundRect">
            <a:avLst>
              <a:gd name="adj" fmla="val 9091"/>
            </a:avLst>
          </a:prstGeom>
          <a:solidFill>
            <a:srgbClr val="0F1E40"/>
          </a:solidFill>
          <a:ln/>
        </p:spPr>
      </p:sp>
      <p:sp>
        <p:nvSpPr>
          <p:cNvPr id="13" name="Text 11"/>
          <p:cNvSpPr/>
          <p:nvPr/>
        </p:nvSpPr>
        <p:spPr>
          <a:xfrm>
            <a:off x="8823960" y="5760720"/>
            <a:ext cx="274320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Xuất Excel  ·  1 click — file .xlsx chuẩn</a:t>
            </a:r>
            <a:endParaRPr lang="en-US" sz="1000" dirty="0"/>
          </a:p>
        </p:txBody>
      </p:sp>
      <p:sp>
        <p:nvSpPr>
          <p:cNvPr id="14" name="Text 12"/>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16/18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1371600" cy="548640"/>
          </a:xfrm>
          <a:prstGeom prst="rect">
            <a:avLst/>
          </a:prstGeom>
          <a:noFill/>
          <a:ln/>
        </p:spPr>
        <p:txBody>
          <a:bodyPr wrap="square" rtlCol="0" anchor="ctr"/>
          <a:lstStyle/>
          <a:p>
            <a:pPr indent="0" marL="0">
              <a:buNone/>
            </a:pPr>
            <a:r>
              <a:rPr lang="en-US" sz="3600" b="1" dirty="0">
                <a:solidFill>
                  <a:srgbClr val="D4A744"/>
                </a:solidFill>
                <a:latin typeface="Calibri" pitchFamily="34" charset="0"/>
                <a:ea typeface="Calibri" pitchFamily="34" charset="-122"/>
                <a:cs typeface="Calibri" pitchFamily="34" charset="-120"/>
              </a:rPr>
              <a:t>06</a:t>
            </a:r>
            <a:endParaRPr lang="en-US" sz="3600" dirty="0"/>
          </a:p>
        </p:txBody>
      </p:sp>
      <p:sp>
        <p:nvSpPr>
          <p:cNvPr id="3" name="Text 1"/>
          <p:cNvSpPr/>
          <p:nvPr/>
        </p:nvSpPr>
        <p:spPr>
          <a:xfrm>
            <a:off x="457200" y="914400"/>
            <a:ext cx="10972800" cy="548640"/>
          </a:xfrm>
          <a:prstGeom prst="rect">
            <a:avLst/>
          </a:prstGeom>
          <a:noFill/>
          <a:ln/>
        </p:spPr>
        <p:txBody>
          <a:bodyPr wrap="square" rtlCol="0" anchor="ctr"/>
          <a:lstStyle/>
          <a:p>
            <a:pPr indent="0" marL="0">
              <a:buNone/>
            </a:pPr>
            <a:r>
              <a:rPr lang="en-US" sz="3200" b="1" dirty="0">
                <a:solidFill>
                  <a:srgbClr val="0F1E40"/>
                </a:solidFill>
                <a:latin typeface="Calibri" pitchFamily="34" charset="0"/>
                <a:ea typeface="Calibri" pitchFamily="34" charset="-122"/>
                <a:cs typeface="Calibri" pitchFamily="34" charset="-120"/>
              </a:rPr>
              <a:t>Trước vs Sau — lợi ích cụ thể</a:t>
            </a:r>
            <a:endParaRPr lang="en-US" sz="3200" dirty="0"/>
          </a:p>
        </p:txBody>
      </p:sp>
      <p:sp>
        <p:nvSpPr>
          <p:cNvPr id="4" name="Shape 2"/>
          <p:cNvSpPr/>
          <p:nvPr/>
        </p:nvSpPr>
        <p:spPr>
          <a:xfrm>
            <a:off x="457200" y="1645920"/>
            <a:ext cx="5486400" cy="4572000"/>
          </a:xfrm>
          <a:prstGeom prst="roundRect">
            <a:avLst>
              <a:gd name="adj" fmla="val 2000"/>
            </a:avLst>
          </a:prstGeom>
          <a:solidFill>
            <a:srgbClr val="FFFFFF"/>
          </a:solidFill>
          <a:ln w="25400">
            <a:solidFill>
              <a:srgbClr val="DC2626"/>
            </a:solidFill>
            <a:prstDash val="solid"/>
          </a:ln>
        </p:spPr>
      </p:sp>
      <p:sp>
        <p:nvSpPr>
          <p:cNvPr id="5" name="Text 3"/>
          <p:cNvSpPr/>
          <p:nvPr/>
        </p:nvSpPr>
        <p:spPr>
          <a:xfrm>
            <a:off x="457200" y="1645920"/>
            <a:ext cx="5486400" cy="457200"/>
          </a:xfrm>
          <a:prstGeom prst="rect">
            <a:avLst/>
          </a:prstGeom>
          <a:noFill/>
          <a:ln/>
        </p:spPr>
        <p:txBody>
          <a:bodyPr wrap="square" rtlCol="0" anchor="ctr"/>
          <a:lstStyle/>
          <a:p>
            <a:pPr algn="ctr" indent="0" marL="0">
              <a:buNone/>
            </a:pPr>
            <a:r>
              <a:rPr lang="en-US" sz="1800" b="1" dirty="0">
                <a:solidFill>
                  <a:srgbClr val="DC2626"/>
                </a:solidFill>
                <a:latin typeface="Calibri" pitchFamily="34" charset="0"/>
                <a:ea typeface="Calibri" pitchFamily="34" charset="-122"/>
                <a:cs typeface="Calibri" pitchFamily="34" charset="-120"/>
              </a:rPr>
              <a:t>❌  TRƯỚC — Excel chia sẻ</a:t>
            </a:r>
            <a:endParaRPr lang="en-US" sz="1800" dirty="0"/>
          </a:p>
        </p:txBody>
      </p:sp>
      <p:sp>
        <p:nvSpPr>
          <p:cNvPr id="6" name="Shape 4"/>
          <p:cNvSpPr/>
          <p:nvPr/>
        </p:nvSpPr>
        <p:spPr>
          <a:xfrm>
            <a:off x="640080" y="2148840"/>
            <a:ext cx="5120640" cy="0"/>
          </a:xfrm>
          <a:prstGeom prst="line">
            <a:avLst/>
          </a:prstGeom>
          <a:noFill/>
          <a:ln w="12700">
            <a:solidFill>
              <a:srgbClr val="DC2626"/>
            </a:solidFill>
            <a:prstDash val="solid"/>
          </a:ln>
        </p:spPr>
      </p:sp>
      <p:sp>
        <p:nvSpPr>
          <p:cNvPr id="7" name="Text 5"/>
          <p:cNvSpPr/>
          <p:nvPr/>
        </p:nvSpPr>
        <p:spPr>
          <a:xfrm>
            <a:off x="731520" y="228600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File Excel chia sẻ qua mạng</a:t>
            </a:r>
            <a:endParaRPr lang="en-US" sz="1300" dirty="0"/>
          </a:p>
        </p:txBody>
      </p:sp>
      <p:sp>
        <p:nvSpPr>
          <p:cNvPr id="8" name="Text 6"/>
          <p:cNvSpPr/>
          <p:nvPr/>
        </p:nvSpPr>
        <p:spPr>
          <a:xfrm>
            <a:off x="731520" y="269748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Tổng hợp báo cáo: 2-3 giờ / tuần</a:t>
            </a:r>
            <a:endParaRPr lang="en-US" sz="1300" dirty="0"/>
          </a:p>
        </p:txBody>
      </p:sp>
      <p:sp>
        <p:nvSpPr>
          <p:cNvPr id="9" name="Text 7"/>
          <p:cNvSpPr/>
          <p:nvPr/>
        </p:nvSpPr>
        <p:spPr>
          <a:xfrm>
            <a:off x="731520" y="310896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Không biết ai đã sửa gì</a:t>
            </a:r>
            <a:endParaRPr lang="en-US" sz="1300" dirty="0"/>
          </a:p>
        </p:txBody>
      </p:sp>
      <p:sp>
        <p:nvSpPr>
          <p:cNvPr id="10" name="Text 8"/>
          <p:cNvSpPr/>
          <p:nvPr/>
        </p:nvSpPr>
        <p:spPr>
          <a:xfrm>
            <a:off x="731520" y="352044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Không cảnh báo khi Rev đổi</a:t>
            </a:r>
            <a:endParaRPr lang="en-US" sz="1300" dirty="0"/>
          </a:p>
        </p:txBody>
      </p:sp>
      <p:sp>
        <p:nvSpPr>
          <p:cNvPr id="11" name="Text 9"/>
          <p:cNvSpPr/>
          <p:nvPr/>
        </p:nvSpPr>
        <p:spPr>
          <a:xfrm>
            <a:off x="731520" y="393192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Phải báo qua Zalo cập nhật</a:t>
            </a:r>
            <a:endParaRPr lang="en-US" sz="1300" dirty="0"/>
          </a:p>
        </p:txBody>
      </p:sp>
      <p:sp>
        <p:nvSpPr>
          <p:cNvPr id="12" name="Text 10"/>
          <p:cNvSpPr/>
          <p:nvPr/>
        </p:nvSpPr>
        <p:spPr>
          <a:xfrm>
            <a:off x="731520" y="434340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Dễ xung đột file → mất dữ liệu</a:t>
            </a:r>
            <a:endParaRPr lang="en-US" sz="1300" dirty="0"/>
          </a:p>
        </p:txBody>
      </p:sp>
      <p:sp>
        <p:nvSpPr>
          <p:cNvPr id="13" name="Text 11"/>
          <p:cNvSpPr/>
          <p:nvPr/>
        </p:nvSpPr>
        <p:spPr>
          <a:xfrm>
            <a:off x="731520" y="475488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Truy ngược lỗi: khó</a:t>
            </a:r>
            <a:endParaRPr lang="en-US" sz="1300" dirty="0"/>
          </a:p>
        </p:txBody>
      </p:sp>
      <p:sp>
        <p:nvSpPr>
          <p:cNvPr id="14" name="Shape 12"/>
          <p:cNvSpPr/>
          <p:nvPr/>
        </p:nvSpPr>
        <p:spPr>
          <a:xfrm>
            <a:off x="6217920" y="1645920"/>
            <a:ext cx="5486400" cy="4572000"/>
          </a:xfrm>
          <a:prstGeom prst="roundRect">
            <a:avLst>
              <a:gd name="adj" fmla="val 2000"/>
            </a:avLst>
          </a:prstGeom>
          <a:solidFill>
            <a:srgbClr val="FFFFFF"/>
          </a:solidFill>
          <a:ln w="25400">
            <a:solidFill>
              <a:srgbClr val="16A34A"/>
            </a:solidFill>
            <a:prstDash val="solid"/>
          </a:ln>
        </p:spPr>
      </p:sp>
      <p:sp>
        <p:nvSpPr>
          <p:cNvPr id="15" name="Text 13"/>
          <p:cNvSpPr/>
          <p:nvPr/>
        </p:nvSpPr>
        <p:spPr>
          <a:xfrm>
            <a:off x="6217920" y="1645920"/>
            <a:ext cx="5486400" cy="457200"/>
          </a:xfrm>
          <a:prstGeom prst="rect">
            <a:avLst/>
          </a:prstGeom>
          <a:noFill/>
          <a:ln/>
        </p:spPr>
        <p:txBody>
          <a:bodyPr wrap="square" rtlCol="0" anchor="ctr"/>
          <a:lstStyle/>
          <a:p>
            <a:pPr algn="ctr" indent="0" marL="0">
              <a:buNone/>
            </a:pPr>
            <a:r>
              <a:rPr lang="en-US" sz="1800" b="1" dirty="0">
                <a:solidFill>
                  <a:srgbClr val="16A34A"/>
                </a:solidFill>
                <a:latin typeface="Calibri" pitchFamily="34" charset="0"/>
                <a:ea typeface="Calibri" pitchFamily="34" charset="-122"/>
                <a:cs typeface="Calibri" pitchFamily="34" charset="-120"/>
              </a:rPr>
              <a:t>✅  SAU — Web app v2.0</a:t>
            </a:r>
            <a:endParaRPr lang="en-US" sz="1800" dirty="0"/>
          </a:p>
        </p:txBody>
      </p:sp>
      <p:sp>
        <p:nvSpPr>
          <p:cNvPr id="16" name="Shape 14"/>
          <p:cNvSpPr/>
          <p:nvPr/>
        </p:nvSpPr>
        <p:spPr>
          <a:xfrm>
            <a:off x="6400800" y="2148840"/>
            <a:ext cx="5120640" cy="0"/>
          </a:xfrm>
          <a:prstGeom prst="line">
            <a:avLst/>
          </a:prstGeom>
          <a:noFill/>
          <a:ln w="12700">
            <a:solidFill>
              <a:srgbClr val="16A34A"/>
            </a:solidFill>
            <a:prstDash val="solid"/>
          </a:ln>
        </p:spPr>
      </p:sp>
      <p:sp>
        <p:nvSpPr>
          <p:cNvPr id="17" name="Text 15"/>
          <p:cNvSpPr/>
          <p:nvPr/>
        </p:nvSpPr>
        <p:spPr>
          <a:xfrm>
            <a:off x="6492240" y="228600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Web app — trình duyệt là dùng được</a:t>
            </a:r>
            <a:endParaRPr lang="en-US" sz="1300" dirty="0"/>
          </a:p>
        </p:txBody>
      </p:sp>
      <p:sp>
        <p:nvSpPr>
          <p:cNvPr id="18" name="Text 16"/>
          <p:cNvSpPr/>
          <p:nvPr/>
        </p:nvSpPr>
        <p:spPr>
          <a:xfrm>
            <a:off x="6492240" y="269748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Báo cáo: 1 click, ra file Excel ngay</a:t>
            </a:r>
            <a:endParaRPr lang="en-US" sz="1300" dirty="0"/>
          </a:p>
        </p:txBody>
      </p:sp>
      <p:sp>
        <p:nvSpPr>
          <p:cNvPr id="19" name="Text 17"/>
          <p:cNvSpPr/>
          <p:nvPr/>
        </p:nvSpPr>
        <p:spPr>
          <a:xfrm>
            <a:off x="6492240" y="310896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Audit log: ai/lúc nào/làm gì đầy đủ</a:t>
            </a:r>
            <a:endParaRPr lang="en-US" sz="1300" dirty="0"/>
          </a:p>
        </p:txBody>
      </p:sp>
      <p:sp>
        <p:nvSpPr>
          <p:cNvPr id="20" name="Text 18"/>
          <p:cNvSpPr/>
          <p:nvPr/>
        </p:nvSpPr>
        <p:spPr>
          <a:xfrm>
            <a:off x="6492240" y="352044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Tự cảnh báo Rev đổi + Final-without-Fit-up</a:t>
            </a:r>
            <a:endParaRPr lang="en-US" sz="1300" dirty="0"/>
          </a:p>
        </p:txBody>
      </p:sp>
      <p:sp>
        <p:nvSpPr>
          <p:cNvPr id="21" name="Text 19"/>
          <p:cNvSpPr/>
          <p:nvPr/>
        </p:nvSpPr>
        <p:spPr>
          <a:xfrm>
            <a:off x="6492240" y="393192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Real-time — AE QC khác thấy ngay</a:t>
            </a:r>
            <a:endParaRPr lang="en-US" sz="1300" dirty="0"/>
          </a:p>
        </p:txBody>
      </p:sp>
      <p:sp>
        <p:nvSpPr>
          <p:cNvPr id="22" name="Text 20"/>
          <p:cNvSpPr/>
          <p:nvPr/>
        </p:nvSpPr>
        <p:spPr>
          <a:xfrm>
            <a:off x="6492240" y="434340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Database SQL — không xung đột</a:t>
            </a:r>
            <a:endParaRPr lang="en-US" sz="1300" dirty="0"/>
          </a:p>
        </p:txBody>
      </p:sp>
      <p:sp>
        <p:nvSpPr>
          <p:cNvPr id="23" name="Text 21"/>
          <p:cNvSpPr/>
          <p:nvPr/>
        </p:nvSpPr>
        <p:spPr>
          <a:xfrm>
            <a:off x="6492240" y="4754880"/>
            <a:ext cx="5029200" cy="3657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Truy ngược lỗi: 1 click</a:t>
            </a:r>
            <a:endParaRPr lang="en-US" sz="1300" dirty="0"/>
          </a:p>
        </p:txBody>
      </p:sp>
      <p:sp>
        <p:nvSpPr>
          <p:cNvPr id="24" name="Text 22"/>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QC Component Manager v2.0  |  Đại Dũng Phòng QC  |  17/18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E40"/>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D4A744"/>
          </a:solidFill>
          <a:ln/>
        </p:spPr>
      </p:sp>
      <p:sp>
        <p:nvSpPr>
          <p:cNvPr id="3" name="Text 1"/>
          <p:cNvSpPr/>
          <p:nvPr/>
        </p:nvSpPr>
        <p:spPr>
          <a:xfrm>
            <a:off x="457200" y="731520"/>
            <a:ext cx="10972800" cy="73152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Cảm ơn AE đã lắng nghe</a:t>
            </a:r>
            <a:endParaRPr lang="en-US" sz="4200" dirty="0"/>
          </a:p>
        </p:txBody>
      </p:sp>
      <p:sp>
        <p:nvSpPr>
          <p:cNvPr id="4" name="Text 2"/>
          <p:cNvSpPr/>
          <p:nvPr/>
        </p:nvSpPr>
        <p:spPr>
          <a:xfrm>
            <a:off x="457200" y="1554480"/>
            <a:ext cx="10972800" cy="457200"/>
          </a:xfrm>
          <a:prstGeom prst="rect">
            <a:avLst/>
          </a:prstGeom>
          <a:noFill/>
          <a:ln/>
        </p:spPr>
        <p:txBody>
          <a:bodyPr wrap="square" rtlCol="0" anchor="ctr"/>
          <a:lstStyle/>
          <a:p>
            <a:pPr indent="0" marL="0">
              <a:buNone/>
            </a:pPr>
            <a:r>
              <a:rPr lang="en-US" sz="2000" i="1" dirty="0">
                <a:solidFill>
                  <a:srgbClr val="FCE7A1"/>
                </a:solidFill>
                <a:latin typeface="Calibri" pitchFamily="34" charset="0"/>
                <a:ea typeface="Calibri" pitchFamily="34" charset="-122"/>
                <a:cs typeface="Calibri" pitchFamily="34" charset="-120"/>
              </a:rPr>
              <a:t>Hỏi đáp &amp; kế hoạch triển khai</a:t>
            </a:r>
            <a:endParaRPr lang="en-US" sz="2000" dirty="0"/>
          </a:p>
        </p:txBody>
      </p:sp>
      <p:sp>
        <p:nvSpPr>
          <p:cNvPr id="5" name="Text 3"/>
          <p:cNvSpPr/>
          <p:nvPr/>
        </p:nvSpPr>
        <p:spPr>
          <a:xfrm>
            <a:off x="457200" y="2468880"/>
            <a:ext cx="10972800" cy="457200"/>
          </a:xfrm>
          <a:prstGeom prst="rect">
            <a:avLst/>
          </a:prstGeom>
          <a:noFill/>
          <a:ln/>
        </p:spPr>
        <p:txBody>
          <a:bodyPr wrap="square" rtlCol="0" anchor="ctr"/>
          <a:lstStyle/>
          <a:p>
            <a:pPr indent="0" marL="0">
              <a:buNone/>
            </a:pPr>
            <a:r>
              <a:rPr lang="en-US" sz="2000" b="1" dirty="0">
                <a:solidFill>
                  <a:srgbClr val="D4A744"/>
                </a:solidFill>
                <a:latin typeface="Calibri" pitchFamily="34" charset="0"/>
                <a:ea typeface="Calibri" pitchFamily="34" charset="-122"/>
                <a:cs typeface="Calibri" pitchFamily="34" charset="-120"/>
              </a:rPr>
              <a:t>📅  Kế hoạch triển khai</a:t>
            </a:r>
            <a:endParaRPr lang="en-US" sz="2000" dirty="0"/>
          </a:p>
        </p:txBody>
      </p:sp>
      <p:sp>
        <p:nvSpPr>
          <p:cNvPr id="6" name="Shape 4"/>
          <p:cNvSpPr/>
          <p:nvPr/>
        </p:nvSpPr>
        <p:spPr>
          <a:xfrm>
            <a:off x="457200" y="3017520"/>
            <a:ext cx="11247120" cy="594360"/>
          </a:xfrm>
          <a:prstGeom prst="roundRect">
            <a:avLst>
              <a:gd name="adj" fmla="val 12308"/>
            </a:avLst>
          </a:prstGeom>
          <a:solidFill>
            <a:srgbClr val="1A2B5A"/>
          </a:solidFill>
          <a:ln w="12700">
            <a:solidFill>
              <a:srgbClr val="D4A744"/>
            </a:solidFill>
            <a:prstDash val="solid"/>
          </a:ln>
        </p:spPr>
      </p:sp>
      <p:sp>
        <p:nvSpPr>
          <p:cNvPr id="7" name="Text 5"/>
          <p:cNvSpPr/>
          <p:nvPr/>
        </p:nvSpPr>
        <p:spPr>
          <a:xfrm>
            <a:off x="731520" y="3017520"/>
            <a:ext cx="2286000" cy="594360"/>
          </a:xfrm>
          <a:prstGeom prst="rect">
            <a:avLst/>
          </a:prstGeom>
          <a:noFill/>
          <a:ln/>
        </p:spPr>
        <p:txBody>
          <a:bodyPr wrap="square" rtlCol="0" anchor="ctr"/>
          <a:lstStyle/>
          <a:p>
            <a:pPr indent="0" marL="0">
              <a:buNone/>
            </a:pPr>
            <a:r>
              <a:rPr lang="en-US" sz="1400" b="1" dirty="0">
                <a:solidFill>
                  <a:srgbClr val="D4A744"/>
                </a:solidFill>
                <a:latin typeface="Calibri" pitchFamily="34" charset="0"/>
                <a:ea typeface="Calibri" pitchFamily="34" charset="-122"/>
                <a:cs typeface="Calibri" pitchFamily="34" charset="-120"/>
              </a:rPr>
              <a:t>Tuần này</a:t>
            </a:r>
            <a:endParaRPr lang="en-US" sz="1400" dirty="0"/>
          </a:p>
        </p:txBody>
      </p:sp>
      <p:sp>
        <p:nvSpPr>
          <p:cNvPr id="8" name="Text 6"/>
          <p:cNvSpPr/>
          <p:nvPr/>
        </p:nvSpPr>
        <p:spPr>
          <a:xfrm>
            <a:off x="3017520" y="3017520"/>
            <a:ext cx="82296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Cài đặt server LAN trên máy tôi  ·  Test với dự án Phú Quốc</a:t>
            </a:r>
            <a:endParaRPr lang="en-US" sz="1300" dirty="0"/>
          </a:p>
        </p:txBody>
      </p:sp>
      <p:sp>
        <p:nvSpPr>
          <p:cNvPr id="9" name="Shape 7"/>
          <p:cNvSpPr/>
          <p:nvPr/>
        </p:nvSpPr>
        <p:spPr>
          <a:xfrm>
            <a:off x="457200" y="3749040"/>
            <a:ext cx="11247120" cy="594360"/>
          </a:xfrm>
          <a:prstGeom prst="roundRect">
            <a:avLst>
              <a:gd name="adj" fmla="val 12308"/>
            </a:avLst>
          </a:prstGeom>
          <a:solidFill>
            <a:srgbClr val="1A2B5A"/>
          </a:solidFill>
          <a:ln w="12700">
            <a:solidFill>
              <a:srgbClr val="D4A744"/>
            </a:solidFill>
            <a:prstDash val="solid"/>
          </a:ln>
        </p:spPr>
      </p:sp>
      <p:sp>
        <p:nvSpPr>
          <p:cNvPr id="10" name="Text 8"/>
          <p:cNvSpPr/>
          <p:nvPr/>
        </p:nvSpPr>
        <p:spPr>
          <a:xfrm>
            <a:off x="731520" y="3749040"/>
            <a:ext cx="2286000" cy="594360"/>
          </a:xfrm>
          <a:prstGeom prst="rect">
            <a:avLst/>
          </a:prstGeom>
          <a:noFill/>
          <a:ln/>
        </p:spPr>
        <p:txBody>
          <a:bodyPr wrap="square" rtlCol="0" anchor="ctr"/>
          <a:lstStyle/>
          <a:p>
            <a:pPr indent="0" marL="0">
              <a:buNone/>
            </a:pPr>
            <a:r>
              <a:rPr lang="en-US" sz="1400" b="1" dirty="0">
                <a:solidFill>
                  <a:srgbClr val="D4A744"/>
                </a:solidFill>
                <a:latin typeface="Calibri" pitchFamily="34" charset="0"/>
                <a:ea typeface="Calibri" pitchFamily="34" charset="-122"/>
                <a:cs typeface="Calibri" pitchFamily="34" charset="-120"/>
              </a:rPr>
              <a:t>Tuần sau</a:t>
            </a:r>
            <a:endParaRPr lang="en-US" sz="1400" dirty="0"/>
          </a:p>
        </p:txBody>
      </p:sp>
      <p:sp>
        <p:nvSpPr>
          <p:cNvPr id="11" name="Text 9"/>
          <p:cNvSpPr/>
          <p:nvPr/>
        </p:nvSpPr>
        <p:spPr>
          <a:xfrm>
            <a:off x="3017520" y="3749040"/>
            <a:ext cx="82296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AE QC dùng thử  ·  Tôi hỗ trợ + ghi nhận phản hồi</a:t>
            </a:r>
            <a:endParaRPr lang="en-US" sz="1300" dirty="0"/>
          </a:p>
        </p:txBody>
      </p:sp>
      <p:sp>
        <p:nvSpPr>
          <p:cNvPr id="12" name="Shape 10"/>
          <p:cNvSpPr/>
          <p:nvPr/>
        </p:nvSpPr>
        <p:spPr>
          <a:xfrm>
            <a:off x="457200" y="4480560"/>
            <a:ext cx="11247120" cy="594360"/>
          </a:xfrm>
          <a:prstGeom prst="roundRect">
            <a:avLst>
              <a:gd name="adj" fmla="val 12308"/>
            </a:avLst>
          </a:prstGeom>
          <a:solidFill>
            <a:srgbClr val="1A2B5A"/>
          </a:solidFill>
          <a:ln w="12700">
            <a:solidFill>
              <a:srgbClr val="D4A744"/>
            </a:solidFill>
            <a:prstDash val="solid"/>
          </a:ln>
        </p:spPr>
      </p:sp>
      <p:sp>
        <p:nvSpPr>
          <p:cNvPr id="13" name="Text 11"/>
          <p:cNvSpPr/>
          <p:nvPr/>
        </p:nvSpPr>
        <p:spPr>
          <a:xfrm>
            <a:off x="731520" y="4480560"/>
            <a:ext cx="2286000" cy="594360"/>
          </a:xfrm>
          <a:prstGeom prst="rect">
            <a:avLst/>
          </a:prstGeom>
          <a:noFill/>
          <a:ln/>
        </p:spPr>
        <p:txBody>
          <a:bodyPr wrap="square" rtlCol="0" anchor="ctr"/>
          <a:lstStyle/>
          <a:p>
            <a:pPr indent="0" marL="0">
              <a:buNone/>
            </a:pPr>
            <a:r>
              <a:rPr lang="en-US" sz="1400" b="1" dirty="0">
                <a:solidFill>
                  <a:srgbClr val="D4A744"/>
                </a:solidFill>
                <a:latin typeface="Calibri" pitchFamily="34" charset="0"/>
                <a:ea typeface="Calibri" pitchFamily="34" charset="-122"/>
                <a:cs typeface="Calibri" pitchFamily="34" charset="-120"/>
              </a:rPr>
              <a:t>Tuần 3</a:t>
            </a:r>
            <a:endParaRPr lang="en-US" sz="1400" dirty="0"/>
          </a:p>
        </p:txBody>
      </p:sp>
      <p:sp>
        <p:nvSpPr>
          <p:cNvPr id="14" name="Text 12"/>
          <p:cNvSpPr/>
          <p:nvPr/>
        </p:nvSpPr>
        <p:spPr>
          <a:xfrm>
            <a:off x="3017520" y="4480560"/>
            <a:ext cx="8229600" cy="5943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Hoàn thiện theo phản hồi  ·  Triển khai chính thức cho cả phòng</a:t>
            </a:r>
            <a:endParaRPr lang="en-US" sz="1300" dirty="0"/>
          </a:p>
        </p:txBody>
      </p:sp>
      <p:sp>
        <p:nvSpPr>
          <p:cNvPr id="15" name="Shape 13"/>
          <p:cNvSpPr/>
          <p:nvPr/>
        </p:nvSpPr>
        <p:spPr>
          <a:xfrm>
            <a:off x="457200" y="5669280"/>
            <a:ext cx="3657600" cy="0"/>
          </a:xfrm>
          <a:prstGeom prst="line">
            <a:avLst/>
          </a:prstGeom>
          <a:noFill/>
          <a:ln w="25400">
            <a:solidFill>
              <a:srgbClr val="D4A744"/>
            </a:solidFill>
            <a:prstDash val="solid"/>
          </a:ln>
        </p:spPr>
      </p:sp>
      <p:sp>
        <p:nvSpPr>
          <p:cNvPr id="16" name="Text 14"/>
          <p:cNvSpPr/>
          <p:nvPr/>
        </p:nvSpPr>
        <p:spPr>
          <a:xfrm>
            <a:off x="457200" y="5760720"/>
            <a:ext cx="1097280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Liên hệ: oke  ·  Phòng QC  ·  Mọi feedback đều được hoan nghênh</a:t>
            </a:r>
            <a:endParaRPr lang="en-US" sz="1400" dirty="0"/>
          </a:p>
        </p:txBody>
      </p:sp>
      <p:sp>
        <p:nvSpPr>
          <p:cNvPr id="17" name="Text 15"/>
          <p:cNvSpPr/>
          <p:nvPr/>
        </p:nvSpPr>
        <p:spPr>
          <a:xfrm>
            <a:off x="457200" y="6126480"/>
            <a:ext cx="10972800" cy="274320"/>
          </a:xfrm>
          <a:prstGeom prst="rect">
            <a:avLst/>
          </a:prstGeom>
          <a:noFill/>
          <a:ln/>
        </p:spPr>
        <p:txBody>
          <a:bodyPr wrap="square" rtlCol="0" anchor="ctr"/>
          <a:lstStyle/>
          <a:p>
            <a:pPr indent="0" marL="0">
              <a:buNone/>
            </a:pPr>
            <a:r>
              <a:rPr lang="en-US" sz="1100" i="1" dirty="0">
                <a:solidFill>
                  <a:srgbClr val="FCE7A1"/>
                </a:solidFill>
                <a:latin typeface="Calibri" pitchFamily="34" charset="0"/>
                <a:ea typeface="Calibri" pitchFamily="34" charset="-122"/>
                <a:cs typeface="Calibri" pitchFamily="34" charset="-120"/>
              </a:rPr>
              <a:t>Bấm thumbs-down/feedback trong app để báo lỗi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Đại Dũng Steel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QC Component Manager v2.0 - Bài thuyết trình</dc:title>
  <dc:subject>Web app QC Component Manager</dc:subject>
  <dc:creator>Phòng QC - Đại Dũng</dc:creator>
  <cp:lastModifiedBy>Phòng QC - Đại Dũng</cp:lastModifiedBy>
  <cp:revision>1</cp:revision>
  <dcterms:created xsi:type="dcterms:W3CDTF">2026-05-21T04:11:40Z</dcterms:created>
  <dcterms:modified xsi:type="dcterms:W3CDTF">2026-05-21T04:11:40Z</dcterms:modified>
</cp:coreProperties>
</file>